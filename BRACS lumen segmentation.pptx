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562" r:id="rId2"/>
    <p:sldId id="571" r:id="rId3"/>
    <p:sldId id="573" r:id="rId4"/>
    <p:sldId id="568" r:id="rId5"/>
    <p:sldId id="570" r:id="rId6"/>
    <p:sldId id="57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0061272-49D2-59B6-DFEF-F496A3F504F3}" name="Pfister Michèle (pfistmi5)" initials="" userId="S::pfistmi5@students.zhaw.ch::db815682-9e30-4da3-b0cd-dcec4d92616e" providerId="AD"/>
  <p188:author id="{279C07A5-F7CC-EACA-100E-234BCAF469EF}" name="Juchler Norman (juch)" initials="J(" userId="S::juch@zhaw.ch::d9a4239e-f1f3-4017-9b25-d76ac4da10a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54"/>
    <p:restoredTop sz="66644"/>
  </p:normalViewPr>
  <p:slideViewPr>
    <p:cSldViewPr snapToGrid="0">
      <p:cViewPr varScale="1">
        <p:scale>
          <a:sx n="82" d="100"/>
          <a:sy n="82" d="100"/>
        </p:scale>
        <p:origin x="9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48CF7-D663-224D-9649-984BC9DAA3DB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13188E-D93D-E74E-B855-80685F68D8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80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188E-D93D-E74E-B855-80685F68D8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052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188E-D93D-E74E-B855-80685F68D8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28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188E-D93D-E74E-B855-80685F68D8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181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188E-D93D-E74E-B855-80685F68D8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174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13188E-D93D-E74E-B855-80685F68D8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434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096AF-293B-DE1F-B97B-076A74D576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84C769-E174-6D6B-69B8-EE5F130B9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392D2-C45B-C571-C9CE-1319A34EE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E5759-9408-ACD4-5F5F-365034901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B2CDB-7C96-B8FB-CE12-D07E2E823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5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A1FE5-585B-7EB0-ECBB-179F431B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BEA8E-C833-E904-65FD-2FE735732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28F67-DBF1-EF8E-10C2-9C4C72E95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0B32F-8D00-7DA4-7F12-D5325EF2A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E6B83-905C-CBBB-2FBA-C8F0253F5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935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FDB1A-BAB7-79D7-B4B4-60FD0A295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B5533E-37CC-8855-0CCE-98787EF97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EAAE5-EF5C-E06B-DD79-89A14784B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2D5C7-F87F-0A6F-40AB-CD209BB0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D81C4-0000-0A5A-0DF7-8E97F3F97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16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9A137-8918-2D38-4FD7-BD5A8D099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AD78D-8B6B-6944-2F79-9A8EB15BCC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06BFE-12FE-9899-166D-D36DE53E37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3C1849-90C7-2B8B-C5E5-B51F19BFF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CF5C60-DC54-862D-670B-4F9AA0DFF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05BFF-DA5A-AD4D-67B1-791C3FA3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459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78DF-08A3-822F-5455-0E397E1DF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B902E0-2D95-A7E7-1584-CCDC2ECC1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45C758-351E-26B5-8E83-F771D350E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6F6A93-0D89-E337-537A-1B79037953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A27189-07C9-50F9-4CBB-2B5BE8F42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256C6B-1712-ABEF-1749-0DB2529EF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CA327F-7F3D-DBAC-A40D-CBD453EAE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D9BDA3-3435-EB54-07C4-E524C526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57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99D7C-9861-C288-18BB-80E56AB57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93EC23-A448-FA56-FFE5-3EEDE824D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FB9AE7-EB42-BA2D-28CE-1A6A18D05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2640F-2397-5435-3ABE-57C3AC4CF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7C964A-929F-AF24-08C7-0F52C854F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BFAF4F-B46E-F682-BD80-28BBDBE68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1E59E-0C8D-E9AE-8CD0-44347B2DB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650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2BC9A-7548-D603-4879-FCF1CCA80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00BA4-21D8-792C-A6DD-DC2F1807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2B441-19FB-DBA2-5378-F5A966959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1771B-4A4F-259E-5B9A-D50CA91A0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A9A37-5C61-EACE-4FE3-1A4464F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11835-DFA3-4E37-77BB-4BE4699A2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838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6DA5F-A2D9-01F2-7407-E6110AA32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B26956-FD69-B9E5-605E-854DF11D04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29FFE-4D39-DC58-18B4-0605B289F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BA58B-1AF3-F601-D2BB-1389B9DD7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86D3B-3AF4-4CE8-50E1-61897AF0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9E492-77D3-69A2-D56A-5224AF42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736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681A0-598E-1E41-AF23-A0E3A07EA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90A762-33A4-0F3E-FC42-EB930F3CA9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210A-0635-4219-F327-65E9B0BEE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612B5-C95A-6454-F088-3A49C5659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C8CC4-58FE-158F-41D1-755011FE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8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DE0ECA-EBE3-4829-5AE6-9A46ADE78B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9040C7-196F-043E-5BE0-CDC9092968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FA6E9-B3C7-F5D5-6830-F7A15CFE1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7D999-0999-B54C-C228-0466F6A28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EC8E6-1314-3C93-EF6F-4CDE200E0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3311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D96325-DB21-49EB-AA31-60EF96DF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064AF6-55A1-4701-8FDE-CECBC57FB1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483137" y="6494426"/>
            <a:ext cx="3067395" cy="360000"/>
          </a:xfrm>
        </p:spPr>
        <p:txBody>
          <a:bodyPr>
            <a:noAutofit/>
          </a:bodyPr>
          <a:lstStyle/>
          <a:p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B61FBF-27D6-43E2-AC54-EEDC898DF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50534" y="6494426"/>
            <a:ext cx="641465" cy="360000"/>
          </a:xfrm>
        </p:spPr>
        <p:txBody>
          <a:bodyPr>
            <a:noAutofit/>
          </a:bodyPr>
          <a:lstStyle/>
          <a:p>
            <a:fld id="{D1FC5AC2-B577-4698-AF76-EE6087FC4032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978A57DC-2B42-2D7A-E4A5-F44D8C7F7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2883" y="1236131"/>
            <a:ext cx="11181079" cy="507046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38266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E762FF-4838-63A4-5F82-5C6AEE952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983A76-4634-E0B2-8648-B013B8DEB8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B8E7F-7D27-E196-899B-593C1ADDC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14538C-AF7A-5A4E-BA4A-A31D2FFC5113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B3323-21F0-EECF-0A81-C9ACA2555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78203-E9DB-880E-AF60-4BF4BCE582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BA077C-951E-F24E-84FC-0040128535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86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5.png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2.png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17-17204-5" TargetMode="External"/><Relationship Id="rId2" Type="http://schemas.openxmlformats.org/officeDocument/2006/relationships/hyperlink" Target="https://doi.org/10.1093/database/baac093" TargetMode="Externa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oi.org/10.1038/s41592-025-02595-5" TargetMode="External"/><Relationship Id="rId4" Type="http://schemas.openxmlformats.org/officeDocument/2006/relationships/hyperlink" Target="https://doi.org/10.1038/s41592-020-01018-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ollage of images of cells&#10;&#10;AI-generated content may be incorrect.">
            <a:extLst>
              <a:ext uri="{FF2B5EF4-FFF2-40B4-BE49-F238E27FC236}">
                <a16:creationId xmlns:a16="http://schemas.microsoft.com/office/drawing/2014/main" id="{0463A6E9-0A55-2264-7D6C-76A5BAE43F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40000"/>
          </a:blip>
          <a:srcRect b="5063"/>
          <a:stretch>
            <a:fillRect/>
          </a:stretch>
        </p:blipFill>
        <p:spPr>
          <a:xfrm>
            <a:off x="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62E069-97DB-3D10-EF22-411E0626A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26" y="1619623"/>
            <a:ext cx="10506456" cy="2020132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br>
              <a:rPr lang="en-US" sz="4600" dirty="0">
                <a:solidFill>
                  <a:schemeClr val="bg1"/>
                </a:solidFill>
              </a:rPr>
            </a:br>
            <a:r>
              <a:rPr lang="en-US" sz="4600" dirty="0">
                <a:solidFill>
                  <a:schemeClr val="bg1"/>
                </a:solidFill>
              </a:rPr>
              <a:t>Classical and Deep Learning Approaches for Lumen Segmentation</a:t>
            </a:r>
            <a:br>
              <a:rPr lang="en-US" sz="4600" dirty="0">
                <a:solidFill>
                  <a:schemeClr val="bg1"/>
                </a:solidFill>
              </a:rPr>
            </a:br>
            <a:br>
              <a:rPr lang="en-US" sz="3100" dirty="0">
                <a:solidFill>
                  <a:schemeClr val="bg1"/>
                </a:solidFill>
              </a:rPr>
            </a:br>
            <a:r>
              <a:rPr lang="en-US" sz="3100" dirty="0">
                <a:solidFill>
                  <a:schemeClr val="bg1"/>
                </a:solidFill>
              </a:rPr>
              <a:t> breast histopathology images</a:t>
            </a:r>
            <a:br>
              <a:rPr lang="en-US" sz="4600" dirty="0">
                <a:solidFill>
                  <a:schemeClr val="bg1"/>
                </a:solidFill>
              </a:rPr>
            </a:br>
            <a:endParaRPr lang="en-US" sz="4600" dirty="0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137A9-58F8-227F-B9E8-4E734688F4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1248" y="3903786"/>
            <a:ext cx="10506456" cy="267004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Michèle Pfister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CO4: A mini segmentation challenge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Supervisors: Nornan Juchler, Andreas Hock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31.05.2026</a:t>
            </a:r>
          </a:p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38" name="Audio 37">
            <a:extLst>
              <a:ext uri="{FF2B5EF4-FFF2-40B4-BE49-F238E27FC236}">
                <a16:creationId xmlns:a16="http://schemas.microsoft.com/office/drawing/2014/main" id="{1BF18998-A010-BD8C-6CBE-B3C0ED625D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971"/>
    </mc:Choice>
    <mc:Fallback xmlns="">
      <p:transition spd="slow" advTm="2997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8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AABF-19F1-FDA3-1C73-066EA6B4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599" y="446952"/>
            <a:ext cx="10515600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Problem &amp;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C5518-F0C7-5C06-5E71-8AE032964D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5461" y="1772515"/>
            <a:ext cx="5445888" cy="3087352"/>
          </a:xfrm>
        </p:spPr>
        <p:txBody>
          <a:bodyPr numCol="2"/>
          <a:lstStyle/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Challenges: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Distorted glandular structures and unclear lumen boundaries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Staining variability and strong overlap between tissue classes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High tissue heterogeneity within the BRACS dataset</a:t>
            </a:r>
          </a:p>
          <a:p>
            <a:pPr marL="0" indent="0">
              <a:buNone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Goal: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Investigate whether automatic lumen segmentation in BRACS histopathology images is feasible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Compare segmentation methods against manual masks using Dice scores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1A30F-2A39-6744-7A8B-0EEE65AFC3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079" r="-698"/>
          <a:stretch/>
        </p:blipFill>
        <p:spPr>
          <a:xfrm>
            <a:off x="6871917" y="1334786"/>
            <a:ext cx="4711484" cy="4611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93EFF5-DCC3-B913-6C98-C74D05245EAF}"/>
              </a:ext>
            </a:extLst>
          </p:cNvPr>
          <p:cNvSpPr txBox="1"/>
          <p:nvPr/>
        </p:nvSpPr>
        <p:spPr>
          <a:xfrm>
            <a:off x="6871917" y="594609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Figure 1 Dataset: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Original BRACS histopathology patches. </a:t>
            </a:r>
          </a:p>
        </p:txBody>
      </p:sp>
      <p:pic>
        <p:nvPicPr>
          <p:cNvPr id="67" name="Audio 66">
            <a:extLst>
              <a:ext uri="{FF2B5EF4-FFF2-40B4-BE49-F238E27FC236}">
                <a16:creationId xmlns:a16="http://schemas.microsoft.com/office/drawing/2014/main" id="{53A12131-E3ED-375E-0403-DCB8F0E3823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51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086"/>
    </mc:Choice>
    <mc:Fallback xmlns="">
      <p:transition spd="slow" advTm="5608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7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000D-7D67-CCDA-BBE0-F0D20F4AB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437" y="365125"/>
            <a:ext cx="10780363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Methods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0E9043-2B9D-65E6-9A11-DD2251F9D3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237" r="82046" b="60247"/>
          <a:stretch/>
        </p:blipFill>
        <p:spPr>
          <a:xfrm>
            <a:off x="701902" y="3871322"/>
            <a:ext cx="2400228" cy="2295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5D049-A0F9-C97F-77AC-A837A68133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83" t="12241" r="82582" b="60444"/>
          <a:stretch/>
        </p:blipFill>
        <p:spPr>
          <a:xfrm>
            <a:off x="3251191" y="3862073"/>
            <a:ext cx="2294145" cy="22959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51DEB0-5672-1D5B-C7BF-9458DE04D52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2241" r="82104" b="60357"/>
          <a:stretch/>
        </p:blipFill>
        <p:spPr>
          <a:xfrm>
            <a:off x="5725030" y="3881661"/>
            <a:ext cx="2402568" cy="2295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A4F736-EF72-07B2-9ADB-F982BB45487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2553" r="81861" b="60357"/>
          <a:stretch/>
        </p:blipFill>
        <p:spPr>
          <a:xfrm>
            <a:off x="8240596" y="3889365"/>
            <a:ext cx="2463215" cy="22959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431C9EC-2C05-18DE-EF65-16B5327E25F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8498"/>
          <a:stretch/>
        </p:blipFill>
        <p:spPr>
          <a:xfrm>
            <a:off x="612635" y="1369007"/>
            <a:ext cx="10369645" cy="18804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998F96B-0C73-933E-7554-11227F4BDFCE}"/>
              </a:ext>
            </a:extLst>
          </p:cNvPr>
          <p:cNvSpPr txBox="1"/>
          <p:nvPr/>
        </p:nvSpPr>
        <p:spPr>
          <a:xfrm>
            <a:off x="892866" y="4049083"/>
            <a:ext cx="595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E6018-B0A2-B884-E7CD-AE732FDC26C9}"/>
              </a:ext>
            </a:extLst>
          </p:cNvPr>
          <p:cNvSpPr txBox="1"/>
          <p:nvPr/>
        </p:nvSpPr>
        <p:spPr>
          <a:xfrm>
            <a:off x="3463798" y="4049083"/>
            <a:ext cx="338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E081ED-10F0-FDFE-93CE-0FBD97EFC497}"/>
              </a:ext>
            </a:extLst>
          </p:cNvPr>
          <p:cNvSpPr txBox="1"/>
          <p:nvPr/>
        </p:nvSpPr>
        <p:spPr>
          <a:xfrm>
            <a:off x="6005003" y="4068033"/>
            <a:ext cx="3321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207CEB-3B2D-9AD1-CAAA-89F0C547480E}"/>
              </a:ext>
            </a:extLst>
          </p:cNvPr>
          <p:cNvSpPr txBox="1"/>
          <p:nvPr/>
        </p:nvSpPr>
        <p:spPr>
          <a:xfrm>
            <a:off x="8514993" y="4068033"/>
            <a:ext cx="338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9A9AA8-4C45-36E7-F357-D7EF24826300}"/>
              </a:ext>
            </a:extLst>
          </p:cNvPr>
          <p:cNvSpPr txBox="1"/>
          <p:nvPr/>
        </p:nvSpPr>
        <p:spPr>
          <a:xfrm>
            <a:off x="624968" y="3275121"/>
            <a:ext cx="105999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Figure 2 </a:t>
            </a:r>
            <a:r>
              <a:rPr lang="en-US" sz="1400" b="1" dirty="0"/>
              <a:t>Image processing workflow:</a:t>
            </a:r>
            <a:r>
              <a:rPr lang="en-US" sz="1400" dirty="0"/>
              <a:t> Sequential steps used to enhance tissue structures and generate binary lumen segmentation masks.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38EDD6-30C4-215C-5FCA-F932D29C5026}"/>
              </a:ext>
            </a:extLst>
          </p:cNvPr>
          <p:cNvSpPr txBox="1"/>
          <p:nvPr/>
        </p:nvSpPr>
        <p:spPr>
          <a:xfrm>
            <a:off x="701902" y="6134606"/>
            <a:ext cx="97342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Figure 3 </a:t>
            </a:r>
            <a:r>
              <a:rPr lang="en-US" sz="1400" b="1" dirty="0"/>
              <a:t>Segmentation comparison: </a:t>
            </a:r>
            <a:r>
              <a:rPr lang="en-US" sz="1400" dirty="0"/>
              <a:t>a) manual mask, b) automated mask, c) HED + watershed mask, d) </a:t>
            </a:r>
            <a:r>
              <a:rPr lang="en-US" sz="1400" dirty="0" err="1"/>
              <a:t>cellpose</a:t>
            </a:r>
            <a:r>
              <a:rPr lang="en-US" sz="1400" dirty="0"/>
              <a:t> mask</a:t>
            </a:r>
          </a:p>
          <a:p>
            <a:endParaRPr lang="en-US" sz="1400" dirty="0"/>
          </a:p>
        </p:txBody>
      </p:sp>
      <p:pic>
        <p:nvPicPr>
          <p:cNvPr id="33" name="Audio 32">
            <a:extLst>
              <a:ext uri="{FF2B5EF4-FFF2-40B4-BE49-F238E27FC236}">
                <a16:creationId xmlns:a16="http://schemas.microsoft.com/office/drawing/2014/main" id="{370C5013-D9BC-1970-10B4-827F4863736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52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519"/>
    </mc:Choice>
    <mc:Fallback xmlns="">
      <p:transition spd="slow" advTm="205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C3A13-EAFB-9BAB-4D9D-496FAE89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C688D8-5EEB-3C55-E304-5A5FEFB45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5988" y="1489210"/>
            <a:ext cx="7150931" cy="4265974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2C8650-C732-C9CA-2326-91CCEF152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97622"/>
              </p:ext>
            </p:extLst>
          </p:nvPr>
        </p:nvGraphicFramePr>
        <p:xfrm>
          <a:off x="691023" y="1762043"/>
          <a:ext cx="3826791" cy="20616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75597">
                  <a:extLst>
                    <a:ext uri="{9D8B030D-6E8A-4147-A177-3AD203B41FA5}">
                      <a16:colId xmlns:a16="http://schemas.microsoft.com/office/drawing/2014/main" val="1177468867"/>
                    </a:ext>
                  </a:extLst>
                </a:gridCol>
                <a:gridCol w="1275597">
                  <a:extLst>
                    <a:ext uri="{9D8B030D-6E8A-4147-A177-3AD203B41FA5}">
                      <a16:colId xmlns:a16="http://schemas.microsoft.com/office/drawing/2014/main" val="484908756"/>
                    </a:ext>
                  </a:extLst>
                </a:gridCol>
                <a:gridCol w="1275597">
                  <a:extLst>
                    <a:ext uri="{9D8B030D-6E8A-4147-A177-3AD203B41FA5}">
                      <a16:colId xmlns:a16="http://schemas.microsoft.com/office/drawing/2014/main" val="1386863820"/>
                    </a:ext>
                  </a:extLst>
                </a:gridCol>
              </a:tblGrid>
              <a:tr h="3699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dirty="0">
                          <a:effectLst/>
                        </a:rPr>
                        <a:t>method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/>
                      <a:r>
                        <a:rPr lang="en-US" sz="1600" dirty="0">
                          <a:effectLst/>
                        </a:rPr>
                        <a:t>mean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ctr"/>
                      <a:r>
                        <a:rPr lang="en-US" sz="1600" dirty="0">
                          <a:effectLst/>
                        </a:rPr>
                        <a:t>std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187430"/>
                  </a:ext>
                </a:extLst>
              </a:tr>
              <a:tr h="3699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dirty="0">
                          <a:effectLst/>
                        </a:rPr>
                        <a:t>HED + watershed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>
                          <a:effectLst/>
                        </a:rPr>
                        <a:t>0.685816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>
                          <a:effectLst/>
                        </a:rPr>
                        <a:t>0.218016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968828"/>
                  </a:ext>
                </a:extLst>
              </a:tr>
              <a:tr h="3699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dirty="0">
                          <a:effectLst/>
                        </a:rPr>
                        <a:t>Cellpose + lumen filter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>
                          <a:effectLst/>
                        </a:rPr>
                        <a:t>0.655358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>
                          <a:effectLst/>
                        </a:rPr>
                        <a:t>0.225626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056515"/>
                  </a:ext>
                </a:extLst>
              </a:tr>
              <a:tr h="3699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b="0" dirty="0">
                          <a:effectLst/>
                        </a:rPr>
                        <a:t>HED morphology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>
                          <a:effectLst/>
                        </a:rPr>
                        <a:t>0.640740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>
                          <a:effectLst/>
                        </a:rPr>
                        <a:t>0.22053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6732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EE689B1-D303-539F-3589-B67D66227799}"/>
              </a:ext>
            </a:extLst>
          </p:cNvPr>
          <p:cNvSpPr txBox="1"/>
          <p:nvPr/>
        </p:nvSpPr>
        <p:spPr>
          <a:xfrm>
            <a:off x="608094" y="3936272"/>
            <a:ext cx="40878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Table 1 Mean Dice scores and standard deviations: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for the evaluated automated lumen segmentation methods.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C86084-CA81-F724-EE52-A12FE32CA700}"/>
              </a:ext>
            </a:extLst>
          </p:cNvPr>
          <p:cNvSpPr txBox="1"/>
          <p:nvPr/>
        </p:nvSpPr>
        <p:spPr>
          <a:xfrm>
            <a:off x="4876800" y="5589713"/>
            <a:ext cx="69701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 4 Segmentation performance:</a:t>
            </a:r>
            <a:r>
              <a:rPr lang="en-US" sz="1400" dirty="0"/>
              <a:t> Dice score comparison of automated lumen segmentation methods across BRACS images.</a:t>
            </a:r>
          </a:p>
        </p:txBody>
      </p:sp>
      <p:pic>
        <p:nvPicPr>
          <p:cNvPr id="30" name="Audio 29">
            <a:extLst>
              <a:ext uri="{FF2B5EF4-FFF2-40B4-BE49-F238E27FC236}">
                <a16:creationId xmlns:a16="http://schemas.microsoft.com/office/drawing/2014/main" id="{75EF4F2C-6AEF-5F48-8439-9B6C9B265D8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220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424"/>
    </mc:Choice>
    <mc:Fallback xmlns="">
      <p:transition spd="slow" advTm="354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2443A-5EAB-5849-28AA-9D4680A12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28" y="365125"/>
            <a:ext cx="10807672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CA107-BDCE-1702-39C5-3D0E33A03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128" y="1685528"/>
            <a:ext cx="3741075" cy="507046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Manual segmentation is biologically informed, but time-consuming and subjective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Automated methods are faster and reproducible, but sensitive to image variability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Future improvements could include larger datasets and supervised deep learning models such as U-Net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FA7343-3AED-4F00-8619-D0B2CA362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0930" y="1685528"/>
            <a:ext cx="7170549" cy="3916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1261F5-FC40-288A-1DBB-BD2186AD309E}"/>
              </a:ext>
            </a:extLst>
          </p:cNvPr>
          <p:cNvSpPr txBox="1"/>
          <p:nvPr/>
        </p:nvSpPr>
        <p:spPr>
          <a:xfrm>
            <a:off x="4560930" y="5692656"/>
            <a:ext cx="751805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 5 Overlay</a:t>
            </a:r>
            <a:r>
              <a:rPr lang="en-US" sz="1400" dirty="0"/>
              <a:t>: Comparison of manual and automated lumen segmentation methods on BRACS histopathology images.</a:t>
            </a:r>
          </a:p>
          <a:p>
            <a:endParaRPr lang="en-US" dirty="0"/>
          </a:p>
        </p:txBody>
      </p:sp>
      <p:pic>
        <p:nvPicPr>
          <p:cNvPr id="61" name="Audio 60">
            <a:extLst>
              <a:ext uri="{FF2B5EF4-FFF2-40B4-BE49-F238E27FC236}">
                <a16:creationId xmlns:a16="http://schemas.microsoft.com/office/drawing/2014/main" id="{6EAB450B-87D1-36B2-768F-093250CD840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667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130"/>
    </mc:Choice>
    <mc:Fallback xmlns="">
      <p:transition spd="slow" advTm="4213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D1378-DD64-4E2F-F225-2CB81522B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000" y="365125"/>
            <a:ext cx="11029800" cy="1325563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CAB43D-1667-74A7-89AB-38B6F88A85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4000" y="1603376"/>
            <a:ext cx="11181079" cy="5070465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Nadia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Brancati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Anna Maria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Anniciello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Pushpak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Pati, Daniel Riccio, Giosuè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Scognamiglio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Guillaume Jaume, Giuseppe De Pietro, Maurizio Di Bonito, Antonio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Foncubierta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Gerardo Botti, Maria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Gabrani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Florinda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Feroce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Maria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Frucci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BRACS: A Dataset for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BReAst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Carcinoma Subtyping in H&amp;E Histology Images, Database, Volume 2022, 2022, baac093,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https://doi.org/10.1093/database/baac093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Bankhead, P., Loughrey, M.B., Fernández, J.A. et al.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QuPath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Open source software for digital pathology image analysis. Sci Rep 7, 16878 (2017).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https://doi.org/10.1038/s41598-017-17204-5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Stringer, C., Wang, T.,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Michaelos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M. et al.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Cellpose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a generalist algorithm for cellular segmentation. Nat Methods 18, 100–106 (2021).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https://doi.org/10.1038/s41592-020-01018-x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Stringer, C.,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Pachitariu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M. Cellpose3: one-click image restoration for improved cellular segmentation. Nat Methods 22, 592–599 (2025).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https://doi.org/10.1038/s41592-025-02595-5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236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12493</TotalTime>
  <Words>458</Words>
  <Application>Microsoft Macintosh PowerPoint</Application>
  <PresentationFormat>Widescreen</PresentationFormat>
  <Paragraphs>51</Paragraphs>
  <Slides>6</Slides>
  <Notes>5</Notes>
  <HiddenSlides>0</HiddenSlides>
  <MMClips>5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 Classical and Deep Learning Approaches for Lumen Segmentation   breast histopathology images </vt:lpstr>
      <vt:lpstr>Problem &amp; Motivation</vt:lpstr>
      <vt:lpstr>Methods</vt:lpstr>
      <vt:lpstr>Evaluation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Pfister Michèle (pfistmi5)</dc:creator>
  <cp:lastModifiedBy>Pfister Michèle (pfistmi5)</cp:lastModifiedBy>
  <cp:revision>10</cp:revision>
  <dcterms:created xsi:type="dcterms:W3CDTF">2026-05-03T12:40:20Z</dcterms:created>
  <dcterms:modified xsi:type="dcterms:W3CDTF">2026-05-31T21:09:21Z</dcterms:modified>
</cp:coreProperties>
</file>