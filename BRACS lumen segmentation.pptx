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562" r:id="rId2"/>
    <p:sldId id="571" r:id="rId3"/>
    <p:sldId id="573" r:id="rId4"/>
    <p:sldId id="568" r:id="rId5"/>
    <p:sldId id="570" r:id="rId6"/>
    <p:sldId id="57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061272-49D2-59B6-DFEF-F496A3F504F3}" name="Pfister Michèle (pfistmi5)" initials="" userId="S::pfistmi5@students.zhaw.ch::db815682-9e30-4da3-b0cd-dcec4d92616e" providerId="AD"/>
  <p188:author id="{279C07A5-F7CC-EACA-100E-234BCAF469EF}" name="Juchler Norman (juch)" initials="J(" userId="S::juch@zhaw.ch::d9a4239e-f1f3-4017-9b25-d76ac4da10a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857"/>
    <p:restoredTop sz="66667"/>
  </p:normalViewPr>
  <p:slideViewPr>
    <p:cSldViewPr snapToGrid="0">
      <p:cViewPr varScale="1">
        <p:scale>
          <a:sx n="75" d="100"/>
          <a:sy n="75" d="100"/>
        </p:scale>
        <p:origin x="160"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48CF7-D663-224D-9649-984BC9DAA3DB}"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13188E-D93D-E74E-B855-80685F68D80E}" type="slidenum">
              <a:rPr lang="en-US" smtClean="0"/>
              <a:t>‹#›</a:t>
            </a:fld>
            <a:endParaRPr lang="en-US"/>
          </a:p>
        </p:txBody>
      </p:sp>
    </p:spTree>
    <p:extLst>
      <p:ext uri="{BB962C8B-B14F-4D97-AF65-F5344CB8AC3E}">
        <p14:creationId xmlns:p14="http://schemas.microsoft.com/office/powerpoint/2010/main" val="124508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513188E-D93D-E74E-B855-80685F68D80E}" type="slidenum">
              <a:rPr lang="en-US" smtClean="0"/>
              <a:t>1</a:t>
            </a:fld>
            <a:endParaRPr lang="en-US"/>
          </a:p>
        </p:txBody>
      </p:sp>
    </p:spTree>
    <p:extLst>
      <p:ext uri="{BB962C8B-B14F-4D97-AF65-F5344CB8AC3E}">
        <p14:creationId xmlns:p14="http://schemas.microsoft.com/office/powerpoint/2010/main" val="1978052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was motivated by the potential of automatic lumen segmentation to support quantitative tissue analysis and computational histology.</a:t>
            </a:r>
          </a:p>
          <a:p>
            <a:r>
              <a:rPr lang="en-US" dirty="0"/>
              <a:t>Although the BRACS dataset was developed for breast carcinoma subtyping rather than lumen analysis, it contains highly variable and useful tissue morphology. </a:t>
            </a:r>
          </a:p>
          <a:p>
            <a:r>
              <a:rPr lang="en-US" dirty="0"/>
              <a:t>Challenging are malignant and atypical lesions, that often show distorted glandular structures, unclear lumen boundaries, staining variability, and strong overlap between tissue classes, making reliable lumen detection difficult.</a:t>
            </a:r>
          </a:p>
          <a:p>
            <a:r>
              <a:rPr lang="en-US" dirty="0"/>
              <a:t>The goal of this project was to investigate whether automatic lumen segmentation in H&amp;E-stained BRACS histopathology images is feasible by comparing reproducible computational segmentation methods against manually created ground-truth masks.</a:t>
            </a:r>
          </a:p>
          <a:p>
            <a:endParaRPr lang="en-US" dirty="0"/>
          </a:p>
        </p:txBody>
      </p:sp>
      <p:sp>
        <p:nvSpPr>
          <p:cNvPr id="4" name="Slide Number Placeholder 3"/>
          <p:cNvSpPr>
            <a:spLocks noGrp="1"/>
          </p:cNvSpPr>
          <p:nvPr>
            <p:ph type="sldNum" sz="quarter" idx="5"/>
          </p:nvPr>
        </p:nvSpPr>
        <p:spPr/>
        <p:txBody>
          <a:bodyPr/>
          <a:lstStyle/>
          <a:p>
            <a:fld id="{C513188E-D93D-E74E-B855-80685F68D80E}" type="slidenum">
              <a:rPr lang="en-US" smtClean="0"/>
              <a:t>2</a:t>
            </a:fld>
            <a:endParaRPr lang="en-US"/>
          </a:p>
        </p:txBody>
      </p:sp>
    </p:spTree>
    <p:extLst>
      <p:ext uri="{BB962C8B-B14F-4D97-AF65-F5344CB8AC3E}">
        <p14:creationId xmlns:p14="http://schemas.microsoft.com/office/powerpoint/2010/main" val="3805928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dataset of 15 histopathology image patches was manually segmented in QuPath and the Image preprocessing was used to enhance lumen structures before applying three segmentation methods: HED morphology, HED + watershed refinement, and a pretrained model called Cellpose.</a:t>
            </a:r>
            <a:endParaRPr lang="en-US" dirty="0"/>
          </a:p>
        </p:txBody>
      </p:sp>
      <p:sp>
        <p:nvSpPr>
          <p:cNvPr id="4" name="Slide Number Placeholder 3"/>
          <p:cNvSpPr>
            <a:spLocks noGrp="1"/>
          </p:cNvSpPr>
          <p:nvPr>
            <p:ph type="sldNum" sz="quarter" idx="5"/>
          </p:nvPr>
        </p:nvSpPr>
        <p:spPr/>
        <p:txBody>
          <a:bodyPr/>
          <a:lstStyle/>
          <a:p>
            <a:fld id="{C513188E-D93D-E74E-B855-80685F68D80E}" type="slidenum">
              <a:rPr lang="en-US" smtClean="0"/>
              <a:t>3</a:t>
            </a:fld>
            <a:endParaRPr lang="en-US"/>
          </a:p>
        </p:txBody>
      </p:sp>
    </p:spTree>
    <p:extLst>
      <p:ext uri="{BB962C8B-B14F-4D97-AF65-F5344CB8AC3E}">
        <p14:creationId xmlns:p14="http://schemas.microsoft.com/office/powerpoint/2010/main" val="1759118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results were evaluated against the manual ground-truth masks using Dice scores. All automated segmentation methods showed moderate agreement, with mean Dice scores ranging from 0.64 to 0.69, indicating that the segmentations still require careful human review. The HED + watershed approach achieved the best overall performance. Segmentation accuracy was likely limited by the high variability and complexity of the histopathology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dirty="0"/>
          </a:p>
        </p:txBody>
      </p:sp>
      <p:sp>
        <p:nvSpPr>
          <p:cNvPr id="4" name="Slide Number Placeholder 3"/>
          <p:cNvSpPr>
            <a:spLocks noGrp="1"/>
          </p:cNvSpPr>
          <p:nvPr>
            <p:ph type="sldNum" sz="quarter" idx="5"/>
          </p:nvPr>
        </p:nvSpPr>
        <p:spPr/>
        <p:txBody>
          <a:bodyPr/>
          <a:lstStyle/>
          <a:p>
            <a:fld id="{C513188E-D93D-E74E-B855-80685F68D80E}" type="slidenum">
              <a:rPr lang="en-US" smtClean="0"/>
              <a:t>4</a:t>
            </a:fld>
            <a:endParaRPr lang="en-US"/>
          </a:p>
        </p:txBody>
      </p:sp>
    </p:spTree>
    <p:extLst>
      <p:ext uri="{BB962C8B-B14F-4D97-AF65-F5344CB8AC3E}">
        <p14:creationId xmlns:p14="http://schemas.microsoft.com/office/powerpoint/2010/main" val="2970174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computational methods continue to improve, manual segmentation remains more biologically informed because experts can use tissue context to identify true lumen structures. However, manual annotation is time-consuming and subjective.</a:t>
            </a:r>
          </a:p>
          <a:p>
            <a:r>
              <a:rPr lang="en-US" dirty="0"/>
              <a:t>Automated segmentation methods are faster, reproducible, and scalable, but their performance is strongly influenced by image variability and parameter selection.</a:t>
            </a:r>
          </a:p>
          <a:p>
            <a:r>
              <a:rPr lang="en-US" dirty="0"/>
              <a:t>Future improvements could include stain normalization, larger datasets, and supervised deep learning models such as U-Net trained on manual lumen masks.</a:t>
            </a:r>
          </a:p>
          <a:p>
            <a:endParaRPr lang="en-US" dirty="0"/>
          </a:p>
        </p:txBody>
      </p:sp>
      <p:sp>
        <p:nvSpPr>
          <p:cNvPr id="4" name="Slide Number Placeholder 3"/>
          <p:cNvSpPr>
            <a:spLocks noGrp="1"/>
          </p:cNvSpPr>
          <p:nvPr>
            <p:ph type="sldNum" sz="quarter" idx="5"/>
          </p:nvPr>
        </p:nvSpPr>
        <p:spPr/>
        <p:txBody>
          <a:bodyPr/>
          <a:lstStyle/>
          <a:p>
            <a:fld id="{C513188E-D93D-E74E-B855-80685F68D80E}" type="slidenum">
              <a:rPr lang="en-US" smtClean="0"/>
              <a:t>5</a:t>
            </a:fld>
            <a:endParaRPr lang="en-US"/>
          </a:p>
        </p:txBody>
      </p:sp>
    </p:spTree>
    <p:extLst>
      <p:ext uri="{BB962C8B-B14F-4D97-AF65-F5344CB8AC3E}">
        <p14:creationId xmlns:p14="http://schemas.microsoft.com/office/powerpoint/2010/main" val="3399434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096AF-293B-DE1F-B97B-076A74D576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84C769-E174-6D6B-69B8-EE5F130B90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B392D2-C45B-C571-C9CE-1319A34EE966}"/>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7AEE5759-9408-ACD4-5F5F-365034901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B2CDB-7C96-B8FB-CE12-D07E2E823607}"/>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84755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A1FE5-585B-7EB0-ECBB-179F431B04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FBEA8E-C833-E904-65FD-2FE735732D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428F67-DBF1-EF8E-10C2-9C4C72E9517B}"/>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1F80B32F-8D00-7DA4-7F12-D5325EF2A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E6B83-905C-CBBB-2FBA-C8F0253F5718}"/>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4204935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DB1A-BAB7-79D7-B4B4-60FD0A295D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B5533E-37CC-8855-0CCE-98787EF971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9EAAE5-EF5C-E06B-DD79-89A14784B2EC}"/>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E632D5C7-F87F-0A6F-40AB-CD209BB0F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7D81C4-0000-0A5A-0DF7-8E97F3F97CE2}"/>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419216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9A137-8918-2D38-4FD7-BD5A8D0997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4AD78D-8B6B-6944-2F79-9A8EB15BCC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406BFE-12FE-9899-166D-D36DE53E37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3C1849-90C7-2B8B-C5E5-B51F19BFFB70}"/>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6" name="Footer Placeholder 5">
            <a:extLst>
              <a:ext uri="{FF2B5EF4-FFF2-40B4-BE49-F238E27FC236}">
                <a16:creationId xmlns:a16="http://schemas.microsoft.com/office/drawing/2014/main" id="{1BCF5C60-DC54-862D-670B-4F9AA0DFF1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05BFF-DA5A-AD4D-67B1-791C3FA313B5}"/>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394245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878DF-08A3-822F-5455-0E397E1DF7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B902E0-2D95-A7E7-1584-CCDC2ECC1A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45C758-351E-26B5-8E83-F771D350E7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6F6A93-0D89-E337-537A-1B79037953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A27189-07C9-50F9-4CBB-2B5BE8F422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256C6B-1712-ABEF-1749-0DB2529EFC7C}"/>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8" name="Footer Placeholder 7">
            <a:extLst>
              <a:ext uri="{FF2B5EF4-FFF2-40B4-BE49-F238E27FC236}">
                <a16:creationId xmlns:a16="http://schemas.microsoft.com/office/drawing/2014/main" id="{9DCA327F-7F3D-DBAC-A40D-CBD453EAED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D9BDA3-3435-EB54-07C4-E524C526808F}"/>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1694857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9D7C-9861-C288-18BB-80E56AB571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93EC23-A448-FA56-FFE5-3EEDE824D5FF}"/>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4" name="Footer Placeholder 3">
            <a:extLst>
              <a:ext uri="{FF2B5EF4-FFF2-40B4-BE49-F238E27FC236}">
                <a16:creationId xmlns:a16="http://schemas.microsoft.com/office/drawing/2014/main" id="{7BFB9AE7-EB42-BA2D-28CE-1A6A18D058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D2640F-2397-5435-3ABE-57C3AC4CF998}"/>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682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7C964A-929F-AF24-08C7-0F52C854F7E1}"/>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3" name="Footer Placeholder 2">
            <a:extLst>
              <a:ext uri="{FF2B5EF4-FFF2-40B4-BE49-F238E27FC236}">
                <a16:creationId xmlns:a16="http://schemas.microsoft.com/office/drawing/2014/main" id="{D2BFAF4F-B46E-F682-BD80-28BBDBE688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31E59E-0C8D-E9AE-8CD0-44347B2DB632}"/>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1646650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BC9A-7548-D603-4879-FCF1CCA80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900BA4-21D8-792C-A6DD-DC2F18075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52B441-19FB-DBA2-5378-F5A966959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21771B-4A4F-259E-5B9A-D50CA91A045C}"/>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6" name="Footer Placeholder 5">
            <a:extLst>
              <a:ext uri="{FF2B5EF4-FFF2-40B4-BE49-F238E27FC236}">
                <a16:creationId xmlns:a16="http://schemas.microsoft.com/office/drawing/2014/main" id="{355A9A37-5C61-EACE-4FE3-1A4464FA0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B11835-DFA3-4E37-77BB-4BE4699A25B3}"/>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3416838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DA5F-A2D9-01F2-7407-E6110AA322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B26956-FD69-B9E5-605E-854DF11D04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A29FFE-4D39-DC58-18B4-0605B289F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FBA58B-1AF3-F601-D2BB-1389B9DD75A0}"/>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6" name="Footer Placeholder 5">
            <a:extLst>
              <a:ext uri="{FF2B5EF4-FFF2-40B4-BE49-F238E27FC236}">
                <a16:creationId xmlns:a16="http://schemas.microsoft.com/office/drawing/2014/main" id="{F5486D3B-3AF4-4CE8-50E1-61897AF04C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59E492-77D3-69A2-D56A-5224AF423BA8}"/>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911736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681A0-598E-1E41-AF23-A0E3A07EAB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90A762-33A4-0F3E-FC42-EB930F3CA9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9210A-0635-4219-F327-65E9B0BEE40A}"/>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AE3612B5-C95A-6454-F088-3A49C5659F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C8CC4-58FE-158F-41D1-755011FE2B1F}"/>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360758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DE0ECA-EBE3-4829-5AE6-9A46ADE78B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040C7-196F-043E-5BE0-CDC9092968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FA6E9-B3C7-F5D5-6830-F7A15CFE1266}"/>
              </a:ext>
            </a:extLst>
          </p:cNvPr>
          <p:cNvSpPr>
            <a:spLocks noGrp="1"/>
          </p:cNvSpPr>
          <p:nvPr>
            <p:ph type="dt" sz="half" idx="10"/>
          </p:nvPr>
        </p:nvSpPr>
        <p:spPr/>
        <p:txBody>
          <a:body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7F77D999-0999-B54C-C228-0466F6A28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3EC8E6-1314-3C93-EF6F-4CDE200E0A4A}"/>
              </a:ext>
            </a:extLst>
          </p:cNvPr>
          <p:cNvSpPr>
            <a:spLocks noGrp="1"/>
          </p:cNvSpPr>
          <p:nvPr>
            <p:ph type="sldNum" sz="quarter" idx="12"/>
          </p:nvPr>
        </p:nvSpPr>
        <p:spPr/>
        <p:txBody>
          <a:bodyPr/>
          <a:lstStyle/>
          <a:p>
            <a:fld id="{7DBA077C-951E-F24E-84FC-0040128535E6}" type="slidenum">
              <a:rPr lang="en-US" smtClean="0"/>
              <a:t>‹#›</a:t>
            </a:fld>
            <a:endParaRPr lang="en-US"/>
          </a:p>
        </p:txBody>
      </p:sp>
    </p:spTree>
    <p:extLst>
      <p:ext uri="{BB962C8B-B14F-4D97-AF65-F5344CB8AC3E}">
        <p14:creationId xmlns:p14="http://schemas.microsoft.com/office/powerpoint/2010/main" val="2689331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D96325-DB21-49EB-AA31-60EF96DF1D46}"/>
              </a:ext>
            </a:extLst>
          </p:cNvPr>
          <p:cNvSpPr>
            <a:spLocks noGrp="1"/>
          </p:cNvSpPr>
          <p:nvPr>
            <p:ph type="title"/>
          </p:nvPr>
        </p:nvSpPr>
        <p:spPr/>
        <p:txBody>
          <a:bodyPr>
            <a:noAutofit/>
          </a:bodyPr>
          <a:lstStyle/>
          <a:p>
            <a:r>
              <a:rPr lang="en-US" noProof="0"/>
              <a:t>Click to edit Master title style</a:t>
            </a:r>
          </a:p>
        </p:txBody>
      </p:sp>
      <p:sp>
        <p:nvSpPr>
          <p:cNvPr id="3" name="Fußzeilenplatzhalter 2">
            <a:extLst>
              <a:ext uri="{FF2B5EF4-FFF2-40B4-BE49-F238E27FC236}">
                <a16:creationId xmlns:a16="http://schemas.microsoft.com/office/drawing/2014/main" id="{CD064AF6-55A1-4701-8FDE-CECBC57FB1D2}"/>
              </a:ext>
            </a:extLst>
          </p:cNvPr>
          <p:cNvSpPr>
            <a:spLocks noGrp="1"/>
          </p:cNvSpPr>
          <p:nvPr>
            <p:ph type="ftr" sz="quarter" idx="10"/>
          </p:nvPr>
        </p:nvSpPr>
        <p:spPr>
          <a:xfrm>
            <a:off x="8483137" y="6494426"/>
            <a:ext cx="3067395" cy="360000"/>
          </a:xfrm>
        </p:spPr>
        <p:txBody>
          <a:bodyPr>
            <a:noAutofit/>
          </a:bodyPr>
          <a:lstStyle/>
          <a:p>
            <a:endParaRPr lang="en-US" noProof="0"/>
          </a:p>
        </p:txBody>
      </p:sp>
      <p:sp>
        <p:nvSpPr>
          <p:cNvPr id="4" name="Foliennummernplatzhalter 3">
            <a:extLst>
              <a:ext uri="{FF2B5EF4-FFF2-40B4-BE49-F238E27FC236}">
                <a16:creationId xmlns:a16="http://schemas.microsoft.com/office/drawing/2014/main" id="{D8B61FBF-27D6-43E2-AC54-EEDC898DF822}"/>
              </a:ext>
            </a:extLst>
          </p:cNvPr>
          <p:cNvSpPr>
            <a:spLocks noGrp="1"/>
          </p:cNvSpPr>
          <p:nvPr>
            <p:ph type="sldNum" sz="quarter" idx="11"/>
          </p:nvPr>
        </p:nvSpPr>
        <p:spPr>
          <a:xfrm>
            <a:off x="11550534" y="6494426"/>
            <a:ext cx="641465" cy="360000"/>
          </a:xfrm>
        </p:spPr>
        <p:txBody>
          <a:bodyPr>
            <a:noAutofit/>
          </a:bodyPr>
          <a:lstStyle/>
          <a:p>
            <a:fld id="{D1FC5AC2-B577-4698-AF76-EE6087FC4032}" type="slidenum">
              <a:rPr lang="en-US" noProof="0" smtClean="0"/>
              <a:pPr/>
              <a:t>‹#›</a:t>
            </a:fld>
            <a:endParaRPr lang="en-US" noProof="0"/>
          </a:p>
        </p:txBody>
      </p:sp>
      <p:sp>
        <p:nvSpPr>
          <p:cNvPr id="7" name="Text Placeholder 5">
            <a:extLst>
              <a:ext uri="{FF2B5EF4-FFF2-40B4-BE49-F238E27FC236}">
                <a16:creationId xmlns:a16="http://schemas.microsoft.com/office/drawing/2014/main" id="{978A57DC-2B42-2D7A-E4A5-F44D8C7F7BAF}"/>
              </a:ext>
            </a:extLst>
          </p:cNvPr>
          <p:cNvSpPr>
            <a:spLocks noGrp="1"/>
          </p:cNvSpPr>
          <p:nvPr>
            <p:ph type="body" sz="quarter" idx="13"/>
          </p:nvPr>
        </p:nvSpPr>
        <p:spPr>
          <a:xfrm>
            <a:off x="202883" y="1236131"/>
            <a:ext cx="11181079" cy="507046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826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E762FF-4838-63A4-5F82-5C6AEE952B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983A76-4634-E0B2-8648-B013B8DEB8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AB8E7F-7D27-E196-899B-593C1ADDC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14538C-AF7A-5A4E-BA4A-A31D2FFC5113}" type="datetimeFigureOut">
              <a:rPr lang="en-US" smtClean="0"/>
              <a:t>5/26/26</a:t>
            </a:fld>
            <a:endParaRPr lang="en-US"/>
          </a:p>
        </p:txBody>
      </p:sp>
      <p:sp>
        <p:nvSpPr>
          <p:cNvPr id="5" name="Footer Placeholder 4">
            <a:extLst>
              <a:ext uri="{FF2B5EF4-FFF2-40B4-BE49-F238E27FC236}">
                <a16:creationId xmlns:a16="http://schemas.microsoft.com/office/drawing/2014/main" id="{164B3323-21F0-EECF-0A81-C9ACA2555F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278203-E9DB-880E-AF60-4BF4BCE58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BA077C-951E-F24E-84FC-0040128535E6}" type="slidenum">
              <a:rPr lang="en-US" smtClean="0"/>
              <a:t>‹#›</a:t>
            </a:fld>
            <a:endParaRPr lang="en-US"/>
          </a:p>
        </p:txBody>
      </p:sp>
    </p:spTree>
    <p:extLst>
      <p:ext uri="{BB962C8B-B14F-4D97-AF65-F5344CB8AC3E}">
        <p14:creationId xmlns:p14="http://schemas.microsoft.com/office/powerpoint/2010/main" val="3304863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2.xml"/><Relationship Id="rId7" Type="http://schemas.openxmlformats.org/officeDocument/2006/relationships/image" Target="../media/image5.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notesSlide" Target="../notesSlides/notesSlide3.xml"/><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38/s41598-017-17204-5" TargetMode="External"/><Relationship Id="rId2" Type="http://schemas.openxmlformats.org/officeDocument/2006/relationships/hyperlink" Target="https://doi.org/10.1093/database/baac093" TargetMode="External"/><Relationship Id="rId1" Type="http://schemas.openxmlformats.org/officeDocument/2006/relationships/slideLayout" Target="../slideLayouts/slideLayout12.xml"/><Relationship Id="rId5" Type="http://schemas.openxmlformats.org/officeDocument/2006/relationships/hyperlink" Target="https://doi.org/10.1038/s41592-025-02595-5" TargetMode="External"/><Relationship Id="rId4" Type="http://schemas.openxmlformats.org/officeDocument/2006/relationships/hyperlink" Target="https://doi.org/10.1038/s41592-020-01018-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lage of images of cells&#10;&#10;AI-generated content may be incorrect.">
            <a:extLst>
              <a:ext uri="{FF2B5EF4-FFF2-40B4-BE49-F238E27FC236}">
                <a16:creationId xmlns:a16="http://schemas.microsoft.com/office/drawing/2014/main" id="{0463A6E9-0A55-2264-7D6C-76A5BAE43FAF}"/>
              </a:ext>
            </a:extLst>
          </p:cNvPr>
          <p:cNvPicPr>
            <a:picLocks noChangeAspect="1"/>
          </p:cNvPicPr>
          <p:nvPr/>
        </p:nvPicPr>
        <p:blipFill>
          <a:blip r:embed="rId5">
            <a:alphaModFix amt="40000"/>
          </a:blip>
          <a:srcRect b="5063"/>
          <a:stretch>
            <a:fillRect/>
          </a:stretch>
        </p:blipFill>
        <p:spPr>
          <a:xfrm>
            <a:off x="0" y="10"/>
            <a:ext cx="12191979" cy="6857990"/>
          </a:xfrm>
          <a:prstGeom prst="rect">
            <a:avLst/>
          </a:prstGeom>
        </p:spPr>
      </p:pic>
      <p:sp>
        <p:nvSpPr>
          <p:cNvPr id="2" name="Title 1">
            <a:extLst>
              <a:ext uri="{FF2B5EF4-FFF2-40B4-BE49-F238E27FC236}">
                <a16:creationId xmlns:a16="http://schemas.microsoft.com/office/drawing/2014/main" id="{E662E069-97DB-3D10-EF22-411E0626A340}"/>
              </a:ext>
            </a:extLst>
          </p:cNvPr>
          <p:cNvSpPr>
            <a:spLocks noGrp="1"/>
          </p:cNvSpPr>
          <p:nvPr>
            <p:ph type="title"/>
          </p:nvPr>
        </p:nvSpPr>
        <p:spPr>
          <a:xfrm>
            <a:off x="841226" y="1619623"/>
            <a:ext cx="10506456" cy="2020132"/>
          </a:xfrm>
        </p:spPr>
        <p:txBody>
          <a:bodyPr vert="horz" lIns="91440" tIns="45720" rIns="91440" bIns="45720" rtlCol="0" anchor="b">
            <a:normAutofit fontScale="90000"/>
          </a:bodyPr>
          <a:lstStyle/>
          <a:p>
            <a:br>
              <a:rPr lang="en-US" sz="4600" dirty="0">
                <a:solidFill>
                  <a:schemeClr val="bg1"/>
                </a:solidFill>
              </a:rPr>
            </a:br>
            <a:r>
              <a:rPr lang="en-US" sz="4600" dirty="0">
                <a:solidFill>
                  <a:schemeClr val="bg1"/>
                </a:solidFill>
              </a:rPr>
              <a:t>Classical and Deep Learning Approaches for Lumen Segmentation</a:t>
            </a:r>
            <a:br>
              <a:rPr lang="en-US" sz="4600" dirty="0">
                <a:solidFill>
                  <a:schemeClr val="bg1"/>
                </a:solidFill>
              </a:rPr>
            </a:br>
            <a:br>
              <a:rPr lang="en-US" sz="3100" dirty="0">
                <a:solidFill>
                  <a:schemeClr val="bg1"/>
                </a:solidFill>
              </a:rPr>
            </a:br>
            <a:r>
              <a:rPr lang="en-US" sz="3100" dirty="0">
                <a:solidFill>
                  <a:schemeClr val="bg1"/>
                </a:solidFill>
              </a:rPr>
              <a:t> breast histopathology images</a:t>
            </a:r>
            <a:br>
              <a:rPr lang="en-US" sz="4600" dirty="0">
                <a:solidFill>
                  <a:schemeClr val="bg1"/>
                </a:solidFill>
              </a:rPr>
            </a:br>
            <a:endParaRPr lang="en-US" sz="4600" dirty="0">
              <a:solidFill>
                <a:schemeClr val="bg1"/>
              </a:solidFill>
            </a:endParaRPr>
          </a:p>
        </p:txBody>
      </p:sp>
      <p:sp>
        <p:nvSpPr>
          <p:cNvPr id="43" name="Rectangle 4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FE7137A9-58F8-227F-B9E8-4E734688F4C9}"/>
              </a:ext>
            </a:extLst>
          </p:cNvPr>
          <p:cNvSpPr>
            <a:spLocks noGrp="1"/>
          </p:cNvSpPr>
          <p:nvPr>
            <p:ph type="body" sz="quarter" idx="13"/>
          </p:nvPr>
        </p:nvSpPr>
        <p:spPr>
          <a:xfrm>
            <a:off x="841248" y="3903786"/>
            <a:ext cx="10506456" cy="2670048"/>
          </a:xfrm>
        </p:spPr>
        <p:txBody>
          <a:bodyPr vert="horz" lIns="91440" tIns="45720" rIns="91440" bIns="45720" rtlCol="0">
            <a:normAutofit/>
          </a:bodyPr>
          <a:lstStyle/>
          <a:p>
            <a:pPr marL="0" indent="0">
              <a:buNone/>
            </a:pPr>
            <a:r>
              <a:rPr lang="en-US" sz="2000" dirty="0">
                <a:solidFill>
                  <a:schemeClr val="bg1"/>
                </a:solidFill>
              </a:rPr>
              <a:t>Michèle Pfister</a:t>
            </a:r>
          </a:p>
          <a:p>
            <a:pPr marL="0" indent="0">
              <a:buNone/>
            </a:pPr>
            <a:r>
              <a:rPr lang="en-US" sz="2000" dirty="0">
                <a:solidFill>
                  <a:schemeClr val="bg1"/>
                </a:solidFill>
              </a:rPr>
              <a:t>CO4: A mini segmentation challenge</a:t>
            </a:r>
          </a:p>
          <a:p>
            <a:pPr marL="0" indent="0">
              <a:buNone/>
            </a:pPr>
            <a:r>
              <a:rPr lang="en-US" sz="2000" dirty="0">
                <a:solidFill>
                  <a:schemeClr val="bg1"/>
                </a:solidFill>
              </a:rPr>
              <a:t>Supervisors: Nornan Juchler, Andreas Hock</a:t>
            </a:r>
          </a:p>
          <a:p>
            <a:pPr marL="0" indent="0">
              <a:buNone/>
            </a:pPr>
            <a:r>
              <a:rPr lang="en-US" sz="2000" dirty="0">
                <a:solidFill>
                  <a:schemeClr val="bg1"/>
                </a:solidFill>
              </a:rPr>
              <a:t>31.05.2026</a:t>
            </a:r>
          </a:p>
          <a:p>
            <a:pPr marL="0" indent="0">
              <a:buNone/>
            </a:pPr>
            <a:endParaRPr lang="en-US" sz="1100" dirty="0">
              <a:solidFill>
                <a:schemeClr val="bg1"/>
              </a:solidFill>
            </a:endParaRPr>
          </a:p>
        </p:txBody>
      </p:sp>
      <p:pic>
        <p:nvPicPr>
          <p:cNvPr id="38" name="Audio 37">
            <a:extLst>
              <a:ext uri="{FF2B5EF4-FFF2-40B4-BE49-F238E27FC236}">
                <a16:creationId xmlns:a16="http://schemas.microsoft.com/office/drawing/2014/main" id="{1BF18998-A010-BD8C-6CBE-B3C0ED625D5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36349"/>
      </p:ext>
    </p:extLst>
  </p:cSld>
  <p:clrMapOvr>
    <a:masterClrMapping/>
  </p:clrMapOvr>
  <mc:AlternateContent xmlns:mc="http://schemas.openxmlformats.org/markup-compatibility/2006">
    <mc:Choice xmlns:p14="http://schemas.microsoft.com/office/powerpoint/2010/main" Requires="p14">
      <p:transition spd="slow" p14:dur="2000" advTm="29971"/>
    </mc:Choice>
    <mc:Fallback>
      <p:transition spd="slow" advTm="299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3AABF-19F1-FDA3-1C73-066EA6B44D96}"/>
              </a:ext>
            </a:extLst>
          </p:cNvPr>
          <p:cNvSpPr>
            <a:spLocks noGrp="1"/>
          </p:cNvSpPr>
          <p:nvPr>
            <p:ph type="title"/>
          </p:nvPr>
        </p:nvSpPr>
        <p:spPr>
          <a:xfrm>
            <a:off x="608599" y="446952"/>
            <a:ext cx="10515600" cy="1325563"/>
          </a:xfrm>
        </p:spPr>
        <p:txBody>
          <a:bodyPr/>
          <a:lstStyle/>
          <a:p>
            <a:r>
              <a:rPr lang="en-US" dirty="0">
                <a:latin typeface="Arial" panose="020B0604020202020204" pitchFamily="34" charset="0"/>
                <a:cs typeface="Arial" panose="020B0604020202020204" pitchFamily="34" charset="0"/>
              </a:rPr>
              <a:t>Problem &amp; Motivation</a:t>
            </a:r>
          </a:p>
        </p:txBody>
      </p:sp>
      <p:sp>
        <p:nvSpPr>
          <p:cNvPr id="3" name="Text Placeholder 2">
            <a:extLst>
              <a:ext uri="{FF2B5EF4-FFF2-40B4-BE49-F238E27FC236}">
                <a16:creationId xmlns:a16="http://schemas.microsoft.com/office/drawing/2014/main" id="{05DC5518-F0C7-5C06-5E71-8AE032964DF4}"/>
              </a:ext>
            </a:extLst>
          </p:cNvPr>
          <p:cNvSpPr>
            <a:spLocks noGrp="1"/>
          </p:cNvSpPr>
          <p:nvPr>
            <p:ph type="body" sz="quarter" idx="13"/>
          </p:nvPr>
        </p:nvSpPr>
        <p:spPr>
          <a:xfrm>
            <a:off x="505461" y="1772515"/>
            <a:ext cx="5445888" cy="3087352"/>
          </a:xfrm>
        </p:spPr>
        <p:txBody>
          <a:bodyPr numCol="2"/>
          <a:lstStyle/>
          <a:p>
            <a:pPr marL="0" indent="0">
              <a:buNone/>
            </a:pPr>
            <a:r>
              <a:rPr lang="en-US" sz="1800" b="1" dirty="0">
                <a:latin typeface="Arial" panose="020B0604020202020204" pitchFamily="34" charset="0"/>
                <a:cs typeface="Arial" panose="020B0604020202020204" pitchFamily="34" charset="0"/>
              </a:rPr>
              <a:t>Challenges:</a:t>
            </a:r>
          </a:p>
          <a:p>
            <a:r>
              <a:rPr lang="en-US" sz="1800" dirty="0">
                <a:latin typeface="Arial" panose="020B0604020202020204" pitchFamily="34" charset="0"/>
                <a:cs typeface="Arial" panose="020B0604020202020204" pitchFamily="34" charset="0"/>
              </a:rPr>
              <a:t>Distorted glandular structures and unclear lumen boundaries</a:t>
            </a:r>
          </a:p>
          <a:p>
            <a:r>
              <a:rPr lang="en-US" sz="1800" dirty="0">
                <a:latin typeface="Arial" panose="020B0604020202020204" pitchFamily="34" charset="0"/>
                <a:cs typeface="Arial" panose="020B0604020202020204" pitchFamily="34" charset="0"/>
              </a:rPr>
              <a:t>Staining variability and strong overlap between tissue classes</a:t>
            </a:r>
          </a:p>
          <a:p>
            <a:r>
              <a:rPr lang="en-US" sz="1800" dirty="0">
                <a:latin typeface="Arial" panose="020B0604020202020204" pitchFamily="34" charset="0"/>
                <a:cs typeface="Arial" panose="020B0604020202020204" pitchFamily="34" charset="0"/>
              </a:rPr>
              <a:t>High tissue heterogeneity within the BRACS dataset</a:t>
            </a:r>
          </a:p>
          <a:p>
            <a:pPr marL="0" indent="0">
              <a:buNone/>
            </a:pPr>
            <a:r>
              <a:rPr lang="en-US" sz="1800" b="1" dirty="0">
                <a:latin typeface="Arial" panose="020B0604020202020204" pitchFamily="34" charset="0"/>
                <a:cs typeface="Arial" panose="020B0604020202020204" pitchFamily="34" charset="0"/>
              </a:rPr>
              <a:t>Goal:</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Investigate whether automatic lumen segmentation in BRACS histopathology images is feasible</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Compare segmentation methods against manual masks using Dice scores</a:t>
            </a:r>
          </a:p>
        </p:txBody>
      </p:sp>
      <p:pic>
        <p:nvPicPr>
          <p:cNvPr id="5" name="Picture 4">
            <a:extLst>
              <a:ext uri="{FF2B5EF4-FFF2-40B4-BE49-F238E27FC236}">
                <a16:creationId xmlns:a16="http://schemas.microsoft.com/office/drawing/2014/main" id="{6171A30F-2A39-6744-7A8B-0EEE65AFC308}"/>
              </a:ext>
            </a:extLst>
          </p:cNvPr>
          <p:cNvPicPr>
            <a:picLocks noChangeAspect="1"/>
          </p:cNvPicPr>
          <p:nvPr/>
        </p:nvPicPr>
        <p:blipFill>
          <a:blip r:embed="rId5"/>
          <a:srcRect l="40079" r="-698"/>
          <a:stretch/>
        </p:blipFill>
        <p:spPr>
          <a:xfrm>
            <a:off x="6871917" y="1334786"/>
            <a:ext cx="4711484" cy="4611312"/>
          </a:xfrm>
          <a:prstGeom prst="rect">
            <a:avLst/>
          </a:prstGeom>
        </p:spPr>
      </p:pic>
      <p:sp>
        <p:nvSpPr>
          <p:cNvPr id="6" name="TextBox 5">
            <a:extLst>
              <a:ext uri="{FF2B5EF4-FFF2-40B4-BE49-F238E27FC236}">
                <a16:creationId xmlns:a16="http://schemas.microsoft.com/office/drawing/2014/main" id="{F293EFF5-DCC3-B913-6C98-C74D05245EAF}"/>
              </a:ext>
            </a:extLst>
          </p:cNvPr>
          <p:cNvSpPr txBox="1"/>
          <p:nvPr/>
        </p:nvSpPr>
        <p:spPr>
          <a:xfrm>
            <a:off x="6871917" y="5946098"/>
            <a:ext cx="6096000" cy="30777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Figure 1 Dataset: </a:t>
            </a:r>
            <a:r>
              <a:rPr lang="en-US" sz="1400" dirty="0">
                <a:latin typeface="Arial" panose="020B0604020202020204" pitchFamily="34" charset="0"/>
                <a:cs typeface="Arial" panose="020B0604020202020204" pitchFamily="34" charset="0"/>
              </a:rPr>
              <a:t>Original BRACS histopathology patches. </a:t>
            </a:r>
          </a:p>
        </p:txBody>
      </p:sp>
      <p:pic>
        <p:nvPicPr>
          <p:cNvPr id="67" name="Audio 66">
            <a:extLst>
              <a:ext uri="{FF2B5EF4-FFF2-40B4-BE49-F238E27FC236}">
                <a16:creationId xmlns:a16="http://schemas.microsoft.com/office/drawing/2014/main" id="{53A12131-E3ED-375E-0403-DCB8F0E3823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48951374"/>
      </p:ext>
    </p:extLst>
  </p:cSld>
  <p:clrMapOvr>
    <a:masterClrMapping/>
  </p:clrMapOvr>
  <mc:AlternateContent xmlns:mc="http://schemas.openxmlformats.org/markup-compatibility/2006">
    <mc:Choice xmlns:p14="http://schemas.microsoft.com/office/powerpoint/2010/main" Requires="p14">
      <p:transition spd="slow" p14:dur="2000" advTm="56086"/>
    </mc:Choice>
    <mc:Fallback>
      <p:transition spd="slow" advTm="560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B000D-7D67-CCDA-BBE0-F0D20F4ABD15}"/>
              </a:ext>
            </a:extLst>
          </p:cNvPr>
          <p:cNvSpPr>
            <a:spLocks noGrp="1"/>
          </p:cNvSpPr>
          <p:nvPr>
            <p:ph type="title"/>
          </p:nvPr>
        </p:nvSpPr>
        <p:spPr>
          <a:xfrm>
            <a:off x="573437" y="365125"/>
            <a:ext cx="10780363" cy="1325563"/>
          </a:xfrm>
        </p:spPr>
        <p:txBody>
          <a:bodyPr/>
          <a:lstStyle/>
          <a:p>
            <a:r>
              <a:rPr lang="en-US" dirty="0">
                <a:latin typeface="Arial" panose="020B0604020202020204" pitchFamily="34" charset="0"/>
                <a:cs typeface="Arial" panose="020B0604020202020204" pitchFamily="34" charset="0"/>
              </a:rPr>
              <a:t>Methods</a:t>
            </a:r>
          </a:p>
        </p:txBody>
      </p:sp>
      <p:pic>
        <p:nvPicPr>
          <p:cNvPr id="6" name="Picture 5">
            <a:extLst>
              <a:ext uri="{FF2B5EF4-FFF2-40B4-BE49-F238E27FC236}">
                <a16:creationId xmlns:a16="http://schemas.microsoft.com/office/drawing/2014/main" id="{9B0E9043-2B9D-65E6-9A11-DD2251F9D3C2}"/>
              </a:ext>
            </a:extLst>
          </p:cNvPr>
          <p:cNvPicPr>
            <a:picLocks noChangeAspect="1"/>
          </p:cNvPicPr>
          <p:nvPr/>
        </p:nvPicPr>
        <p:blipFill>
          <a:blip r:embed="rId5"/>
          <a:srcRect t="12237" r="82046" b="60247"/>
          <a:stretch/>
        </p:blipFill>
        <p:spPr>
          <a:xfrm>
            <a:off x="701902" y="3871322"/>
            <a:ext cx="2400228" cy="2295973"/>
          </a:xfrm>
          <a:prstGeom prst="rect">
            <a:avLst/>
          </a:prstGeom>
        </p:spPr>
      </p:pic>
      <p:pic>
        <p:nvPicPr>
          <p:cNvPr id="7" name="Picture 6">
            <a:extLst>
              <a:ext uri="{FF2B5EF4-FFF2-40B4-BE49-F238E27FC236}">
                <a16:creationId xmlns:a16="http://schemas.microsoft.com/office/drawing/2014/main" id="{BC05D049-A0F9-C97F-77AC-A837A6813375}"/>
              </a:ext>
            </a:extLst>
          </p:cNvPr>
          <p:cNvPicPr>
            <a:picLocks noChangeAspect="1"/>
          </p:cNvPicPr>
          <p:nvPr/>
        </p:nvPicPr>
        <p:blipFill>
          <a:blip r:embed="rId6"/>
          <a:srcRect l="383" t="12241" r="82582" b="60444"/>
          <a:stretch/>
        </p:blipFill>
        <p:spPr>
          <a:xfrm>
            <a:off x="3251191" y="3862073"/>
            <a:ext cx="2294145" cy="2295973"/>
          </a:xfrm>
          <a:prstGeom prst="rect">
            <a:avLst/>
          </a:prstGeom>
        </p:spPr>
      </p:pic>
      <p:pic>
        <p:nvPicPr>
          <p:cNvPr id="8" name="Picture 7">
            <a:extLst>
              <a:ext uri="{FF2B5EF4-FFF2-40B4-BE49-F238E27FC236}">
                <a16:creationId xmlns:a16="http://schemas.microsoft.com/office/drawing/2014/main" id="{5851DEB0-5672-1D5B-C7BF-9458DE04D524}"/>
              </a:ext>
            </a:extLst>
          </p:cNvPr>
          <p:cNvPicPr>
            <a:picLocks noChangeAspect="1"/>
          </p:cNvPicPr>
          <p:nvPr/>
        </p:nvPicPr>
        <p:blipFill>
          <a:blip r:embed="rId7"/>
          <a:srcRect t="12241" r="82104" b="60357"/>
          <a:stretch/>
        </p:blipFill>
        <p:spPr>
          <a:xfrm>
            <a:off x="5725030" y="3881661"/>
            <a:ext cx="2402568" cy="2295973"/>
          </a:xfrm>
          <a:prstGeom prst="rect">
            <a:avLst/>
          </a:prstGeom>
        </p:spPr>
      </p:pic>
      <p:pic>
        <p:nvPicPr>
          <p:cNvPr id="9" name="Picture 8">
            <a:extLst>
              <a:ext uri="{FF2B5EF4-FFF2-40B4-BE49-F238E27FC236}">
                <a16:creationId xmlns:a16="http://schemas.microsoft.com/office/drawing/2014/main" id="{A4A4F736-EF72-07B2-9ADB-F982BB45487B}"/>
              </a:ext>
            </a:extLst>
          </p:cNvPr>
          <p:cNvPicPr>
            <a:picLocks noChangeAspect="1"/>
          </p:cNvPicPr>
          <p:nvPr/>
        </p:nvPicPr>
        <p:blipFill>
          <a:blip r:embed="rId8"/>
          <a:srcRect t="12553" r="81861" b="60357"/>
          <a:stretch/>
        </p:blipFill>
        <p:spPr>
          <a:xfrm>
            <a:off x="8240596" y="3889365"/>
            <a:ext cx="2463215" cy="2295973"/>
          </a:xfrm>
          <a:prstGeom prst="rect">
            <a:avLst/>
          </a:prstGeom>
        </p:spPr>
      </p:pic>
      <p:pic>
        <p:nvPicPr>
          <p:cNvPr id="12" name="Picture 11">
            <a:extLst>
              <a:ext uri="{FF2B5EF4-FFF2-40B4-BE49-F238E27FC236}">
                <a16:creationId xmlns:a16="http://schemas.microsoft.com/office/drawing/2014/main" id="{2431C9EC-2C05-18DE-EF65-16B5327E25FA}"/>
              </a:ext>
            </a:extLst>
          </p:cNvPr>
          <p:cNvPicPr>
            <a:picLocks noChangeAspect="1"/>
          </p:cNvPicPr>
          <p:nvPr/>
        </p:nvPicPr>
        <p:blipFill>
          <a:blip r:embed="rId9"/>
          <a:srcRect t="18498"/>
          <a:stretch/>
        </p:blipFill>
        <p:spPr>
          <a:xfrm>
            <a:off x="612635" y="1369007"/>
            <a:ext cx="10369645" cy="1880460"/>
          </a:xfrm>
          <a:prstGeom prst="rect">
            <a:avLst/>
          </a:prstGeom>
        </p:spPr>
      </p:pic>
      <p:sp>
        <p:nvSpPr>
          <p:cNvPr id="14" name="TextBox 13">
            <a:extLst>
              <a:ext uri="{FF2B5EF4-FFF2-40B4-BE49-F238E27FC236}">
                <a16:creationId xmlns:a16="http://schemas.microsoft.com/office/drawing/2014/main" id="{9998F96B-0C73-933E-7554-11227F4BDFCE}"/>
              </a:ext>
            </a:extLst>
          </p:cNvPr>
          <p:cNvSpPr txBox="1"/>
          <p:nvPr/>
        </p:nvSpPr>
        <p:spPr>
          <a:xfrm>
            <a:off x="892866" y="4049083"/>
            <a:ext cx="595323" cy="307777"/>
          </a:xfrm>
          <a:prstGeom prst="rect">
            <a:avLst/>
          </a:prstGeom>
          <a:noFill/>
        </p:spPr>
        <p:txBody>
          <a:bodyPr wrap="square" rtlCol="0">
            <a:spAutoFit/>
          </a:bodyPr>
          <a:lstStyle/>
          <a:p>
            <a:r>
              <a:rPr lang="en-US" sz="1400" dirty="0">
                <a:solidFill>
                  <a:schemeClr val="bg1"/>
                </a:solidFill>
              </a:rPr>
              <a:t>a)</a:t>
            </a:r>
          </a:p>
        </p:txBody>
      </p:sp>
      <p:sp>
        <p:nvSpPr>
          <p:cNvPr id="15" name="TextBox 14">
            <a:extLst>
              <a:ext uri="{FF2B5EF4-FFF2-40B4-BE49-F238E27FC236}">
                <a16:creationId xmlns:a16="http://schemas.microsoft.com/office/drawing/2014/main" id="{FABE6018-B0A2-B884-E7CD-AE732FDC26C9}"/>
              </a:ext>
            </a:extLst>
          </p:cNvPr>
          <p:cNvSpPr txBox="1"/>
          <p:nvPr/>
        </p:nvSpPr>
        <p:spPr>
          <a:xfrm>
            <a:off x="3463798" y="4049083"/>
            <a:ext cx="338554" cy="307777"/>
          </a:xfrm>
          <a:prstGeom prst="rect">
            <a:avLst/>
          </a:prstGeom>
          <a:noFill/>
        </p:spPr>
        <p:txBody>
          <a:bodyPr wrap="none" rtlCol="0">
            <a:spAutoFit/>
          </a:bodyPr>
          <a:lstStyle/>
          <a:p>
            <a:r>
              <a:rPr lang="en-US" sz="1400" dirty="0">
                <a:solidFill>
                  <a:schemeClr val="bg1"/>
                </a:solidFill>
              </a:rPr>
              <a:t>b)</a:t>
            </a:r>
          </a:p>
        </p:txBody>
      </p:sp>
      <p:sp>
        <p:nvSpPr>
          <p:cNvPr id="16" name="TextBox 15">
            <a:extLst>
              <a:ext uri="{FF2B5EF4-FFF2-40B4-BE49-F238E27FC236}">
                <a16:creationId xmlns:a16="http://schemas.microsoft.com/office/drawing/2014/main" id="{67E081ED-10F0-FDFE-93CE-0FBD97EFC497}"/>
              </a:ext>
            </a:extLst>
          </p:cNvPr>
          <p:cNvSpPr txBox="1"/>
          <p:nvPr/>
        </p:nvSpPr>
        <p:spPr>
          <a:xfrm>
            <a:off x="6005003" y="4068033"/>
            <a:ext cx="332142" cy="307777"/>
          </a:xfrm>
          <a:prstGeom prst="rect">
            <a:avLst/>
          </a:prstGeom>
          <a:noFill/>
        </p:spPr>
        <p:txBody>
          <a:bodyPr wrap="none" rtlCol="0">
            <a:spAutoFit/>
          </a:bodyPr>
          <a:lstStyle/>
          <a:p>
            <a:r>
              <a:rPr lang="en-US" sz="1400" dirty="0">
                <a:solidFill>
                  <a:schemeClr val="bg1"/>
                </a:solidFill>
              </a:rPr>
              <a:t>c)</a:t>
            </a:r>
          </a:p>
        </p:txBody>
      </p:sp>
      <p:sp>
        <p:nvSpPr>
          <p:cNvPr id="17" name="TextBox 16">
            <a:extLst>
              <a:ext uri="{FF2B5EF4-FFF2-40B4-BE49-F238E27FC236}">
                <a16:creationId xmlns:a16="http://schemas.microsoft.com/office/drawing/2014/main" id="{9D207CEB-3B2D-9AD1-CAAA-89F0C547480E}"/>
              </a:ext>
            </a:extLst>
          </p:cNvPr>
          <p:cNvSpPr txBox="1"/>
          <p:nvPr/>
        </p:nvSpPr>
        <p:spPr>
          <a:xfrm>
            <a:off x="8514993" y="4068033"/>
            <a:ext cx="338554" cy="307777"/>
          </a:xfrm>
          <a:prstGeom prst="rect">
            <a:avLst/>
          </a:prstGeom>
          <a:noFill/>
        </p:spPr>
        <p:txBody>
          <a:bodyPr wrap="none" rtlCol="0">
            <a:spAutoFit/>
          </a:bodyPr>
          <a:lstStyle/>
          <a:p>
            <a:r>
              <a:rPr lang="en-US" sz="1400" dirty="0">
                <a:solidFill>
                  <a:schemeClr val="bg1"/>
                </a:solidFill>
              </a:rPr>
              <a:t>d)</a:t>
            </a:r>
          </a:p>
        </p:txBody>
      </p:sp>
      <p:sp>
        <p:nvSpPr>
          <p:cNvPr id="4" name="TextBox 3">
            <a:extLst>
              <a:ext uri="{FF2B5EF4-FFF2-40B4-BE49-F238E27FC236}">
                <a16:creationId xmlns:a16="http://schemas.microsoft.com/office/drawing/2014/main" id="{CE9A9AA8-4C45-36E7-F357-D7EF24826300}"/>
              </a:ext>
            </a:extLst>
          </p:cNvPr>
          <p:cNvSpPr txBox="1"/>
          <p:nvPr/>
        </p:nvSpPr>
        <p:spPr>
          <a:xfrm>
            <a:off x="624968" y="3275121"/>
            <a:ext cx="10599973" cy="523220"/>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Figure 2 </a:t>
            </a:r>
            <a:r>
              <a:rPr lang="en-US" sz="1400" b="1" dirty="0"/>
              <a:t>Image processing workflow:</a:t>
            </a:r>
            <a:r>
              <a:rPr lang="en-US" sz="1400" dirty="0"/>
              <a:t> Sequential steps used to enhance tissue structures and generate binary lumen segmentation masks.</a:t>
            </a:r>
          </a:p>
        </p:txBody>
      </p:sp>
      <p:sp>
        <p:nvSpPr>
          <p:cNvPr id="10" name="TextBox 9">
            <a:extLst>
              <a:ext uri="{FF2B5EF4-FFF2-40B4-BE49-F238E27FC236}">
                <a16:creationId xmlns:a16="http://schemas.microsoft.com/office/drawing/2014/main" id="{3438EDD6-30C4-215C-5FCA-F932D29C5026}"/>
              </a:ext>
            </a:extLst>
          </p:cNvPr>
          <p:cNvSpPr txBox="1"/>
          <p:nvPr/>
        </p:nvSpPr>
        <p:spPr>
          <a:xfrm>
            <a:off x="701902" y="6134606"/>
            <a:ext cx="9734291" cy="523220"/>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Figure 3 </a:t>
            </a:r>
            <a:r>
              <a:rPr lang="en-US" sz="1400" b="1" dirty="0"/>
              <a:t>Segmentation comparison: </a:t>
            </a:r>
            <a:r>
              <a:rPr lang="en-US" sz="1400" dirty="0"/>
              <a:t>a) manual mask, b) automated mask, c) HED + watershed mask, d) </a:t>
            </a:r>
            <a:r>
              <a:rPr lang="en-US" sz="1400" dirty="0" err="1"/>
              <a:t>cellpose</a:t>
            </a:r>
            <a:r>
              <a:rPr lang="en-US" sz="1400" dirty="0"/>
              <a:t> mask</a:t>
            </a:r>
          </a:p>
          <a:p>
            <a:endParaRPr lang="en-US" sz="1400" dirty="0"/>
          </a:p>
        </p:txBody>
      </p:sp>
      <p:pic>
        <p:nvPicPr>
          <p:cNvPr id="33" name="Audio 32">
            <a:extLst>
              <a:ext uri="{FF2B5EF4-FFF2-40B4-BE49-F238E27FC236}">
                <a16:creationId xmlns:a16="http://schemas.microsoft.com/office/drawing/2014/main" id="{370C5013-D9BC-1970-10B4-827F4863736F}"/>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05527350"/>
      </p:ext>
    </p:extLst>
  </p:cSld>
  <p:clrMapOvr>
    <a:masterClrMapping/>
  </p:clrMapOvr>
  <mc:AlternateContent xmlns:mc="http://schemas.openxmlformats.org/markup-compatibility/2006">
    <mc:Choice xmlns:p14="http://schemas.microsoft.com/office/powerpoint/2010/main" Requires="p14">
      <p:transition spd="slow" p14:dur="2000" advTm="20519"/>
    </mc:Choice>
    <mc:Fallback>
      <p:transition spd="slow" advTm="205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3A13-EAFB-9BAB-4D9D-496FAE893CA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Evaluation</a:t>
            </a:r>
          </a:p>
        </p:txBody>
      </p:sp>
      <p:pic>
        <p:nvPicPr>
          <p:cNvPr id="4" name="Picture 3">
            <a:extLst>
              <a:ext uri="{FF2B5EF4-FFF2-40B4-BE49-F238E27FC236}">
                <a16:creationId xmlns:a16="http://schemas.microsoft.com/office/drawing/2014/main" id="{31C688D8-5EEB-3C55-E304-5A5FEFB4537A}"/>
              </a:ext>
            </a:extLst>
          </p:cNvPr>
          <p:cNvPicPr>
            <a:picLocks noChangeAspect="1"/>
          </p:cNvPicPr>
          <p:nvPr/>
        </p:nvPicPr>
        <p:blipFill>
          <a:blip r:embed="rId5"/>
          <a:stretch>
            <a:fillRect/>
          </a:stretch>
        </p:blipFill>
        <p:spPr>
          <a:xfrm>
            <a:off x="4695988" y="1489210"/>
            <a:ext cx="7150931" cy="4265974"/>
          </a:xfrm>
          <a:prstGeom prst="rect">
            <a:avLst/>
          </a:prstGeom>
        </p:spPr>
      </p:pic>
      <p:graphicFrame>
        <p:nvGraphicFramePr>
          <p:cNvPr id="5" name="Table 4">
            <a:extLst>
              <a:ext uri="{FF2B5EF4-FFF2-40B4-BE49-F238E27FC236}">
                <a16:creationId xmlns:a16="http://schemas.microsoft.com/office/drawing/2014/main" id="{BC2C8650-C732-C9CA-2326-91CCEF152F03}"/>
              </a:ext>
            </a:extLst>
          </p:cNvPr>
          <p:cNvGraphicFramePr>
            <a:graphicFrameLocks noGrp="1"/>
          </p:cNvGraphicFramePr>
          <p:nvPr>
            <p:extLst>
              <p:ext uri="{D42A27DB-BD31-4B8C-83A1-F6EECF244321}">
                <p14:modId xmlns:p14="http://schemas.microsoft.com/office/powerpoint/2010/main" val="2670597622"/>
              </p:ext>
            </p:extLst>
          </p:nvPr>
        </p:nvGraphicFramePr>
        <p:xfrm>
          <a:off x="691023" y="1762043"/>
          <a:ext cx="3826791" cy="2061632"/>
        </p:xfrm>
        <a:graphic>
          <a:graphicData uri="http://schemas.openxmlformats.org/drawingml/2006/table">
            <a:tbl>
              <a:tblPr>
                <a:tableStyleId>{2D5ABB26-0587-4C30-8999-92F81FD0307C}</a:tableStyleId>
              </a:tblPr>
              <a:tblGrid>
                <a:gridCol w="1275597">
                  <a:extLst>
                    <a:ext uri="{9D8B030D-6E8A-4147-A177-3AD203B41FA5}">
                      <a16:colId xmlns:a16="http://schemas.microsoft.com/office/drawing/2014/main" val="1177468867"/>
                    </a:ext>
                  </a:extLst>
                </a:gridCol>
                <a:gridCol w="1275597">
                  <a:extLst>
                    <a:ext uri="{9D8B030D-6E8A-4147-A177-3AD203B41FA5}">
                      <a16:colId xmlns:a16="http://schemas.microsoft.com/office/drawing/2014/main" val="484908756"/>
                    </a:ext>
                  </a:extLst>
                </a:gridCol>
                <a:gridCol w="1275597">
                  <a:extLst>
                    <a:ext uri="{9D8B030D-6E8A-4147-A177-3AD203B41FA5}">
                      <a16:colId xmlns:a16="http://schemas.microsoft.com/office/drawing/2014/main" val="1386863820"/>
                    </a:ext>
                  </a:extLst>
                </a:gridCol>
              </a:tblGrid>
              <a:tr h="369992">
                <a:tc>
                  <a:txBody>
                    <a:bodyPr/>
                    <a:lstStyle/>
                    <a:p>
                      <a:pPr algn="l" fontAlgn="ctr"/>
                      <a:r>
                        <a:rPr lang="en-US" sz="1600" dirty="0">
                          <a:effectLst/>
                        </a:rPr>
                        <a:t>method</a:t>
                      </a:r>
                    </a:p>
                  </a:txBody>
                  <a:tcPr marL="76200" marR="76200" marT="38100" marB="381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just" fontAlgn="ctr"/>
                      <a:r>
                        <a:rPr lang="en-US" sz="1600" dirty="0">
                          <a:effectLst/>
                        </a:rPr>
                        <a:t>mean</a:t>
                      </a:r>
                    </a:p>
                  </a:txBody>
                  <a:tcPr marL="76200" marR="76200" marT="38100" marB="381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just" fontAlgn="ctr"/>
                      <a:r>
                        <a:rPr lang="en-US" sz="1600" dirty="0">
                          <a:effectLst/>
                        </a:rPr>
                        <a:t>std</a:t>
                      </a:r>
                    </a:p>
                  </a:txBody>
                  <a:tcPr marL="76200" marR="76200" marT="38100" marB="381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017187430"/>
                  </a:ext>
                </a:extLst>
              </a:tr>
              <a:tr h="369992">
                <a:tc>
                  <a:txBody>
                    <a:bodyPr/>
                    <a:lstStyle/>
                    <a:p>
                      <a:pPr algn="l" fontAlgn="ctr"/>
                      <a:r>
                        <a:rPr lang="en-US" sz="1600" b="0" dirty="0">
                          <a:effectLst/>
                        </a:rPr>
                        <a:t>HED + watershed</a:t>
                      </a:r>
                    </a:p>
                  </a:txBody>
                  <a:tcPr marL="76200" marR="76200" marT="38100" marB="381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just"/>
                      <a:r>
                        <a:rPr lang="en-US" sz="1600" dirty="0">
                          <a:effectLst/>
                        </a:rPr>
                        <a:t>0.685816</a:t>
                      </a:r>
                    </a:p>
                  </a:txBody>
                  <a:tcPr marL="76200" marR="76200" marT="38100" marB="381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just"/>
                      <a:r>
                        <a:rPr lang="en-US" sz="1600">
                          <a:effectLst/>
                        </a:rPr>
                        <a:t>0.218016</a:t>
                      </a:r>
                    </a:p>
                  </a:txBody>
                  <a:tcPr marL="76200" marR="76200" marT="38100" marB="381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85968828"/>
                  </a:ext>
                </a:extLst>
              </a:tr>
              <a:tr h="369992">
                <a:tc>
                  <a:txBody>
                    <a:bodyPr/>
                    <a:lstStyle/>
                    <a:p>
                      <a:pPr algn="l" fontAlgn="ctr"/>
                      <a:r>
                        <a:rPr lang="en-US" sz="1600" b="0" dirty="0">
                          <a:effectLst/>
                        </a:rPr>
                        <a:t>Cellpose + lumen filter</a:t>
                      </a:r>
                    </a:p>
                  </a:txBody>
                  <a:tcPr marL="76200" marR="76200" marT="38100" marB="381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just"/>
                      <a:r>
                        <a:rPr lang="en-US" sz="1600" dirty="0">
                          <a:effectLst/>
                        </a:rPr>
                        <a:t>0.655358</a:t>
                      </a:r>
                    </a:p>
                  </a:txBody>
                  <a:tcPr marL="76200" marR="76200" marT="38100" marB="381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just"/>
                      <a:r>
                        <a:rPr lang="en-US" sz="1600">
                          <a:effectLst/>
                        </a:rPr>
                        <a:t>0.225626</a:t>
                      </a:r>
                    </a:p>
                  </a:txBody>
                  <a:tcPr marL="76200" marR="76200" marT="38100" marB="381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8056515"/>
                  </a:ext>
                </a:extLst>
              </a:tr>
              <a:tr h="369992">
                <a:tc>
                  <a:txBody>
                    <a:bodyPr/>
                    <a:lstStyle/>
                    <a:p>
                      <a:pPr algn="l" fontAlgn="ctr"/>
                      <a:r>
                        <a:rPr lang="en-US" sz="1600" b="0" dirty="0">
                          <a:effectLst/>
                        </a:rPr>
                        <a:t>HED morphology</a:t>
                      </a:r>
                    </a:p>
                  </a:txBody>
                  <a:tcPr marL="76200" marR="76200" marT="38100" marB="381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just"/>
                      <a:r>
                        <a:rPr lang="en-US" sz="1600" dirty="0">
                          <a:effectLst/>
                        </a:rPr>
                        <a:t>0.640740</a:t>
                      </a:r>
                    </a:p>
                  </a:txBody>
                  <a:tcPr marL="76200" marR="76200" marT="38100" marB="381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600" dirty="0">
                          <a:effectLst/>
                        </a:rPr>
                        <a:t>0.22053</a:t>
                      </a:r>
                    </a:p>
                  </a:txBody>
                  <a:tcPr marL="76200" marR="76200" marT="38100" marB="381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167320"/>
                  </a:ext>
                </a:extLst>
              </a:tr>
            </a:tbl>
          </a:graphicData>
        </a:graphic>
      </p:graphicFrame>
      <p:sp>
        <p:nvSpPr>
          <p:cNvPr id="6" name="TextBox 5">
            <a:extLst>
              <a:ext uri="{FF2B5EF4-FFF2-40B4-BE49-F238E27FC236}">
                <a16:creationId xmlns:a16="http://schemas.microsoft.com/office/drawing/2014/main" id="{0EE689B1-D303-539F-3589-B67D66227799}"/>
              </a:ext>
            </a:extLst>
          </p:cNvPr>
          <p:cNvSpPr txBox="1"/>
          <p:nvPr/>
        </p:nvSpPr>
        <p:spPr>
          <a:xfrm>
            <a:off x="608094" y="3936272"/>
            <a:ext cx="4087894" cy="101566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Table 1 Mean Dice scores and standard deviations: </a:t>
            </a:r>
            <a:r>
              <a:rPr lang="en-US" sz="1400" dirty="0">
                <a:latin typeface="Arial" panose="020B0604020202020204" pitchFamily="34" charset="0"/>
                <a:cs typeface="Arial" panose="020B0604020202020204" pitchFamily="34" charset="0"/>
              </a:rPr>
              <a:t>for the evaluated automated lumen segmentation methods.</a:t>
            </a:r>
          </a:p>
          <a:p>
            <a:endParaRPr lang="en-US" dirty="0"/>
          </a:p>
        </p:txBody>
      </p:sp>
      <p:sp>
        <p:nvSpPr>
          <p:cNvPr id="8" name="TextBox 7">
            <a:extLst>
              <a:ext uri="{FF2B5EF4-FFF2-40B4-BE49-F238E27FC236}">
                <a16:creationId xmlns:a16="http://schemas.microsoft.com/office/drawing/2014/main" id="{8AC86084-CA81-F724-EE52-A12FE32CA700}"/>
              </a:ext>
            </a:extLst>
          </p:cNvPr>
          <p:cNvSpPr txBox="1"/>
          <p:nvPr/>
        </p:nvSpPr>
        <p:spPr>
          <a:xfrm>
            <a:off x="4876800" y="5589713"/>
            <a:ext cx="6970119" cy="523220"/>
          </a:xfrm>
          <a:prstGeom prst="rect">
            <a:avLst/>
          </a:prstGeom>
          <a:noFill/>
        </p:spPr>
        <p:txBody>
          <a:bodyPr wrap="square" rtlCol="0">
            <a:spAutoFit/>
          </a:bodyPr>
          <a:lstStyle/>
          <a:p>
            <a:r>
              <a:rPr lang="en-US" sz="1400" b="1" dirty="0"/>
              <a:t>Figure 4 Segmentation performance:</a:t>
            </a:r>
            <a:r>
              <a:rPr lang="en-US" sz="1400" dirty="0"/>
              <a:t> Dice score comparison of automated lumen segmentation methods across BRACS images.</a:t>
            </a:r>
          </a:p>
        </p:txBody>
      </p:sp>
      <p:pic>
        <p:nvPicPr>
          <p:cNvPr id="30" name="Audio 29">
            <a:extLst>
              <a:ext uri="{FF2B5EF4-FFF2-40B4-BE49-F238E27FC236}">
                <a16:creationId xmlns:a16="http://schemas.microsoft.com/office/drawing/2014/main" id="{75EF4F2C-6AEF-5F48-8439-9B6C9B265D8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71220987"/>
      </p:ext>
    </p:extLst>
  </p:cSld>
  <p:clrMapOvr>
    <a:masterClrMapping/>
  </p:clrMapOvr>
  <mc:AlternateContent xmlns:mc="http://schemas.openxmlformats.org/markup-compatibility/2006">
    <mc:Choice xmlns:p14="http://schemas.microsoft.com/office/powerpoint/2010/main" Requires="p14">
      <p:transition spd="slow" p14:dur="2000" advTm="35424"/>
    </mc:Choice>
    <mc:Fallback>
      <p:transition spd="slow" advTm="354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2443A-5EAB-5849-28AA-9D4680A1249B}"/>
              </a:ext>
            </a:extLst>
          </p:cNvPr>
          <p:cNvSpPr>
            <a:spLocks noGrp="1"/>
          </p:cNvSpPr>
          <p:nvPr>
            <p:ph type="title"/>
          </p:nvPr>
        </p:nvSpPr>
        <p:spPr>
          <a:xfrm>
            <a:off x="546128" y="365125"/>
            <a:ext cx="10807672" cy="1325563"/>
          </a:xfrm>
        </p:spPr>
        <p:txBody>
          <a:bodyPr/>
          <a:lstStyle/>
          <a:p>
            <a:r>
              <a:rPr lang="en-US" dirty="0">
                <a:latin typeface="Arial" panose="020B0604020202020204" pitchFamily="34" charset="0"/>
                <a:cs typeface="Arial" panose="020B0604020202020204" pitchFamily="34" charset="0"/>
              </a:rPr>
              <a:t>Conclusion</a:t>
            </a:r>
          </a:p>
        </p:txBody>
      </p:sp>
      <p:sp>
        <p:nvSpPr>
          <p:cNvPr id="3" name="Text Placeholder 2">
            <a:extLst>
              <a:ext uri="{FF2B5EF4-FFF2-40B4-BE49-F238E27FC236}">
                <a16:creationId xmlns:a16="http://schemas.microsoft.com/office/drawing/2014/main" id="{478CA107-BDCE-1702-39C5-3D0E33A0356D}"/>
              </a:ext>
            </a:extLst>
          </p:cNvPr>
          <p:cNvSpPr>
            <a:spLocks noGrp="1"/>
          </p:cNvSpPr>
          <p:nvPr>
            <p:ph type="body" sz="quarter" idx="13"/>
          </p:nvPr>
        </p:nvSpPr>
        <p:spPr>
          <a:xfrm>
            <a:off x="546128" y="1685528"/>
            <a:ext cx="3741075" cy="5070465"/>
          </a:xfrm>
        </p:spPr>
        <p:txBody>
          <a:bodyPr/>
          <a:lstStyle/>
          <a:p>
            <a:pPr>
              <a:buFont typeface="Arial" panose="020B0604020202020204" pitchFamily="34" charset="0"/>
              <a:buChar char="•"/>
            </a:pPr>
            <a:r>
              <a:rPr lang="en-US" sz="1600" dirty="0">
                <a:latin typeface="Arial" panose="020B0604020202020204" pitchFamily="34" charset="0"/>
                <a:cs typeface="Arial" panose="020B0604020202020204" pitchFamily="34" charset="0"/>
              </a:rPr>
              <a:t>Manual segmentation is biologically informed, but time-consuming and subjective</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Automated methods are faster and reproducible, but sensitive to image variability</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Future improvements could include larger datasets and supervised deep learning models such as U-Net</a:t>
            </a:r>
          </a:p>
        </p:txBody>
      </p:sp>
      <p:pic>
        <p:nvPicPr>
          <p:cNvPr id="4" name="Picture 3">
            <a:extLst>
              <a:ext uri="{FF2B5EF4-FFF2-40B4-BE49-F238E27FC236}">
                <a16:creationId xmlns:a16="http://schemas.microsoft.com/office/drawing/2014/main" id="{50FA7343-3AED-4F00-8619-D0B2CA362956}"/>
              </a:ext>
            </a:extLst>
          </p:cNvPr>
          <p:cNvPicPr>
            <a:picLocks noChangeAspect="1"/>
          </p:cNvPicPr>
          <p:nvPr/>
        </p:nvPicPr>
        <p:blipFill>
          <a:blip r:embed="rId5"/>
          <a:stretch>
            <a:fillRect/>
          </a:stretch>
        </p:blipFill>
        <p:spPr>
          <a:xfrm>
            <a:off x="4560930" y="1685528"/>
            <a:ext cx="7170549" cy="3916952"/>
          </a:xfrm>
          <a:prstGeom prst="rect">
            <a:avLst/>
          </a:prstGeom>
        </p:spPr>
      </p:pic>
      <p:sp>
        <p:nvSpPr>
          <p:cNvPr id="6" name="TextBox 5">
            <a:extLst>
              <a:ext uri="{FF2B5EF4-FFF2-40B4-BE49-F238E27FC236}">
                <a16:creationId xmlns:a16="http://schemas.microsoft.com/office/drawing/2014/main" id="{481261F5-FC40-288A-1DBB-BD2186AD309E}"/>
              </a:ext>
            </a:extLst>
          </p:cNvPr>
          <p:cNvSpPr txBox="1"/>
          <p:nvPr/>
        </p:nvSpPr>
        <p:spPr>
          <a:xfrm>
            <a:off x="4560930" y="5692656"/>
            <a:ext cx="7518056" cy="800219"/>
          </a:xfrm>
          <a:prstGeom prst="rect">
            <a:avLst/>
          </a:prstGeom>
          <a:noFill/>
        </p:spPr>
        <p:txBody>
          <a:bodyPr wrap="square" rtlCol="0">
            <a:spAutoFit/>
          </a:bodyPr>
          <a:lstStyle/>
          <a:p>
            <a:r>
              <a:rPr lang="en-US" sz="1400" b="1" dirty="0"/>
              <a:t>Figure 5 Overlay</a:t>
            </a:r>
            <a:r>
              <a:rPr lang="en-US" sz="1400" dirty="0"/>
              <a:t>: Comparison of manual and automated lumen segmentation methods on BRACS histopathology images.</a:t>
            </a:r>
          </a:p>
          <a:p>
            <a:endParaRPr lang="en-US" dirty="0"/>
          </a:p>
        </p:txBody>
      </p:sp>
      <p:pic>
        <p:nvPicPr>
          <p:cNvPr id="61" name="Audio 60">
            <a:extLst>
              <a:ext uri="{FF2B5EF4-FFF2-40B4-BE49-F238E27FC236}">
                <a16:creationId xmlns:a16="http://schemas.microsoft.com/office/drawing/2014/main" id="{6EAB450B-87D1-36B2-768F-093250CD840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30667833"/>
      </p:ext>
    </p:extLst>
  </p:cSld>
  <p:clrMapOvr>
    <a:masterClrMapping/>
  </p:clrMapOvr>
  <mc:AlternateContent xmlns:mc="http://schemas.openxmlformats.org/markup-compatibility/2006">
    <mc:Choice xmlns:p14="http://schemas.microsoft.com/office/powerpoint/2010/main" Requires="p14">
      <p:transition spd="slow" p14:dur="2000" advTm="42130"/>
    </mc:Choice>
    <mc:Fallback>
      <p:transition spd="slow" advTm="42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D1378-DD64-4E2F-F225-2CB81522BDC2}"/>
              </a:ext>
            </a:extLst>
          </p:cNvPr>
          <p:cNvSpPr>
            <a:spLocks noGrp="1"/>
          </p:cNvSpPr>
          <p:nvPr>
            <p:ph type="title"/>
          </p:nvPr>
        </p:nvSpPr>
        <p:spPr>
          <a:xfrm>
            <a:off x="324000" y="365125"/>
            <a:ext cx="11029800" cy="1325563"/>
          </a:xfrm>
        </p:spPr>
        <p:txBody>
          <a:bodyPr/>
          <a:lstStyle/>
          <a:p>
            <a:r>
              <a:rPr lang="en-US" dirty="0"/>
              <a:t>References</a:t>
            </a:r>
          </a:p>
        </p:txBody>
      </p:sp>
      <p:sp>
        <p:nvSpPr>
          <p:cNvPr id="3" name="Text Placeholder 2">
            <a:extLst>
              <a:ext uri="{FF2B5EF4-FFF2-40B4-BE49-F238E27FC236}">
                <a16:creationId xmlns:a16="http://schemas.microsoft.com/office/drawing/2014/main" id="{A0CAB43D-1667-74A7-89AB-38B6F88A853A}"/>
              </a:ext>
            </a:extLst>
          </p:cNvPr>
          <p:cNvSpPr>
            <a:spLocks noGrp="1"/>
          </p:cNvSpPr>
          <p:nvPr>
            <p:ph type="body" sz="quarter" idx="13"/>
          </p:nvPr>
        </p:nvSpPr>
        <p:spPr>
          <a:xfrm>
            <a:off x="324000" y="1603376"/>
            <a:ext cx="11181079" cy="5070465"/>
          </a:xfrm>
        </p:spPr>
        <p:txBody>
          <a:bodyPr/>
          <a:lstStyle/>
          <a:p>
            <a:r>
              <a:rPr lang="en-US" sz="2000" dirty="0">
                <a:latin typeface="Arial" panose="020B0604020202020204" pitchFamily="34" charset="0"/>
                <a:cs typeface="Arial" panose="020B0604020202020204" pitchFamily="34" charset="0"/>
              </a:rPr>
              <a:t>Nadia </a:t>
            </a:r>
            <a:r>
              <a:rPr lang="en-US" sz="2000" dirty="0" err="1">
                <a:latin typeface="Arial" panose="020B0604020202020204" pitchFamily="34" charset="0"/>
                <a:cs typeface="Arial" panose="020B0604020202020204" pitchFamily="34" charset="0"/>
              </a:rPr>
              <a:t>Brancati</a:t>
            </a:r>
            <a:r>
              <a:rPr lang="en-US" sz="2000" dirty="0">
                <a:latin typeface="Arial" panose="020B0604020202020204" pitchFamily="34" charset="0"/>
                <a:cs typeface="Arial" panose="020B0604020202020204" pitchFamily="34" charset="0"/>
              </a:rPr>
              <a:t>, Anna Maria </a:t>
            </a:r>
            <a:r>
              <a:rPr lang="en-US" sz="2000" dirty="0" err="1">
                <a:latin typeface="Arial" panose="020B0604020202020204" pitchFamily="34" charset="0"/>
                <a:cs typeface="Arial" panose="020B0604020202020204" pitchFamily="34" charset="0"/>
              </a:rPr>
              <a:t>Anniciello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Pushpak</a:t>
            </a:r>
            <a:r>
              <a:rPr lang="en-US" sz="2000" dirty="0">
                <a:latin typeface="Arial" panose="020B0604020202020204" pitchFamily="34" charset="0"/>
                <a:cs typeface="Arial" panose="020B0604020202020204" pitchFamily="34" charset="0"/>
              </a:rPr>
              <a:t> Pati, Daniel Riccio, Giosuè </a:t>
            </a:r>
            <a:r>
              <a:rPr lang="en-US" sz="2000" dirty="0" err="1">
                <a:latin typeface="Arial" panose="020B0604020202020204" pitchFamily="34" charset="0"/>
                <a:cs typeface="Arial" panose="020B0604020202020204" pitchFamily="34" charset="0"/>
              </a:rPr>
              <a:t>Scognamiglio</a:t>
            </a:r>
            <a:r>
              <a:rPr lang="en-US" sz="2000" dirty="0">
                <a:latin typeface="Arial" panose="020B0604020202020204" pitchFamily="34" charset="0"/>
                <a:cs typeface="Arial" panose="020B0604020202020204" pitchFamily="34" charset="0"/>
              </a:rPr>
              <a:t>, Guillaume Jaume, Giuseppe De Pietro, Maurizio Di Bonito, Antonio </a:t>
            </a:r>
            <a:r>
              <a:rPr lang="en-US" sz="2000" dirty="0" err="1">
                <a:latin typeface="Arial" panose="020B0604020202020204" pitchFamily="34" charset="0"/>
                <a:cs typeface="Arial" panose="020B0604020202020204" pitchFamily="34" charset="0"/>
              </a:rPr>
              <a:t>Foncubierta</a:t>
            </a:r>
            <a:r>
              <a:rPr lang="en-US" sz="2000" dirty="0">
                <a:latin typeface="Arial" panose="020B0604020202020204" pitchFamily="34" charset="0"/>
                <a:cs typeface="Arial" panose="020B0604020202020204" pitchFamily="34" charset="0"/>
              </a:rPr>
              <a:t>, Gerardo Botti, Maria </a:t>
            </a:r>
            <a:r>
              <a:rPr lang="en-US" sz="2000" dirty="0" err="1">
                <a:latin typeface="Arial" panose="020B0604020202020204" pitchFamily="34" charset="0"/>
                <a:cs typeface="Arial" panose="020B0604020202020204" pitchFamily="34" charset="0"/>
              </a:rPr>
              <a:t>Gabrani</a:t>
            </a:r>
            <a:r>
              <a:rPr lang="en-US" sz="2000" dirty="0">
                <a:latin typeface="Arial" panose="020B0604020202020204" pitchFamily="34" charset="0"/>
                <a:cs typeface="Arial" panose="020B0604020202020204" pitchFamily="34" charset="0"/>
              </a:rPr>
              <a:t>, Florinda </a:t>
            </a:r>
            <a:r>
              <a:rPr lang="en-US" sz="2000" dirty="0" err="1">
                <a:latin typeface="Arial" panose="020B0604020202020204" pitchFamily="34" charset="0"/>
                <a:cs typeface="Arial" panose="020B0604020202020204" pitchFamily="34" charset="0"/>
              </a:rPr>
              <a:t>Feroce</a:t>
            </a:r>
            <a:r>
              <a:rPr lang="en-US" sz="2000" dirty="0">
                <a:latin typeface="Arial" panose="020B0604020202020204" pitchFamily="34" charset="0"/>
                <a:cs typeface="Arial" panose="020B0604020202020204" pitchFamily="34" charset="0"/>
              </a:rPr>
              <a:t>, Maria </a:t>
            </a:r>
            <a:r>
              <a:rPr lang="en-US" sz="2000" dirty="0" err="1">
                <a:latin typeface="Arial" panose="020B0604020202020204" pitchFamily="34" charset="0"/>
                <a:cs typeface="Arial" panose="020B0604020202020204" pitchFamily="34" charset="0"/>
              </a:rPr>
              <a:t>Frucci</a:t>
            </a:r>
            <a:r>
              <a:rPr lang="en-US" sz="2000" dirty="0">
                <a:latin typeface="Arial" panose="020B0604020202020204" pitchFamily="34" charset="0"/>
                <a:cs typeface="Arial" panose="020B0604020202020204" pitchFamily="34" charset="0"/>
              </a:rPr>
              <a:t>, BRACS: A Dataset for </a:t>
            </a:r>
            <a:r>
              <a:rPr lang="en-US" sz="2000" dirty="0" err="1">
                <a:latin typeface="Arial" panose="020B0604020202020204" pitchFamily="34" charset="0"/>
                <a:cs typeface="Arial" panose="020B0604020202020204" pitchFamily="34" charset="0"/>
              </a:rPr>
              <a:t>BReAst</a:t>
            </a:r>
            <a:r>
              <a:rPr lang="en-US" sz="2000" dirty="0">
                <a:latin typeface="Arial" panose="020B0604020202020204" pitchFamily="34" charset="0"/>
                <a:cs typeface="Arial" panose="020B0604020202020204" pitchFamily="34" charset="0"/>
              </a:rPr>
              <a:t> Carcinoma Subtyping in H&amp;E Histology Images, Database, Volume 2022, 2022, baac093, </a:t>
            </a:r>
            <a:r>
              <a:rPr lang="en-US" sz="2000" dirty="0">
                <a:latin typeface="Arial" panose="020B0604020202020204" pitchFamily="34" charset="0"/>
                <a:cs typeface="Arial" panose="020B0604020202020204" pitchFamily="34" charset="0"/>
                <a:hlinkClick r:id="rId2"/>
              </a:rPr>
              <a:t>https://doi.org/10.1093/database/baac093</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Bankhead, P., Loughrey, M.B., Fernández, J.A. et al. </a:t>
            </a:r>
            <a:r>
              <a:rPr lang="en-US" sz="2000" dirty="0" err="1">
                <a:latin typeface="Arial" panose="020B0604020202020204" pitchFamily="34" charset="0"/>
                <a:cs typeface="Arial" panose="020B0604020202020204" pitchFamily="34" charset="0"/>
              </a:rPr>
              <a:t>QuPath</a:t>
            </a:r>
            <a:r>
              <a:rPr lang="en-US" sz="2000" dirty="0">
                <a:latin typeface="Arial" panose="020B0604020202020204" pitchFamily="34" charset="0"/>
                <a:cs typeface="Arial" panose="020B0604020202020204" pitchFamily="34" charset="0"/>
              </a:rPr>
              <a:t>: Open source software for digital pathology image analysis. Sci Rep 7, 16878 (2017). </a:t>
            </a:r>
            <a:r>
              <a:rPr lang="en-US" sz="2000" dirty="0">
                <a:latin typeface="Arial" panose="020B0604020202020204" pitchFamily="34" charset="0"/>
                <a:cs typeface="Arial" panose="020B0604020202020204" pitchFamily="34" charset="0"/>
                <a:hlinkClick r:id="rId3"/>
              </a:rPr>
              <a:t>https://doi.org/10.1038/s41598-017-17204-5</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Stringer, C., Wang, T., </a:t>
            </a:r>
            <a:r>
              <a:rPr lang="en-US" sz="2000" dirty="0" err="1">
                <a:latin typeface="Arial" panose="020B0604020202020204" pitchFamily="34" charset="0"/>
                <a:cs typeface="Arial" panose="020B0604020202020204" pitchFamily="34" charset="0"/>
              </a:rPr>
              <a:t>Michaelos</a:t>
            </a:r>
            <a:r>
              <a:rPr lang="en-US" sz="2000" dirty="0">
                <a:latin typeface="Arial" panose="020B0604020202020204" pitchFamily="34" charset="0"/>
                <a:cs typeface="Arial" panose="020B0604020202020204" pitchFamily="34" charset="0"/>
              </a:rPr>
              <a:t>, M. et al. </a:t>
            </a:r>
            <a:r>
              <a:rPr lang="en-US" sz="2000" dirty="0" err="1">
                <a:latin typeface="Arial" panose="020B0604020202020204" pitchFamily="34" charset="0"/>
                <a:cs typeface="Arial" panose="020B0604020202020204" pitchFamily="34" charset="0"/>
              </a:rPr>
              <a:t>Cellpose</a:t>
            </a:r>
            <a:r>
              <a:rPr lang="en-US" sz="2000" dirty="0">
                <a:latin typeface="Arial" panose="020B0604020202020204" pitchFamily="34" charset="0"/>
                <a:cs typeface="Arial" panose="020B0604020202020204" pitchFamily="34" charset="0"/>
              </a:rPr>
              <a:t>: a generalist algorithm for cellular segmentation. Nat Methods 18, 100–106 (2021). </a:t>
            </a:r>
            <a:r>
              <a:rPr lang="en-US" sz="2000" dirty="0">
                <a:latin typeface="Arial" panose="020B0604020202020204" pitchFamily="34" charset="0"/>
                <a:cs typeface="Arial" panose="020B0604020202020204" pitchFamily="34" charset="0"/>
                <a:hlinkClick r:id="rId4"/>
              </a:rPr>
              <a:t>https://doi.org/10.1038/s41592-020-01018-x</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Stringer, C., </a:t>
            </a:r>
            <a:r>
              <a:rPr lang="en-US" sz="2000" dirty="0" err="1">
                <a:latin typeface="Arial" panose="020B0604020202020204" pitchFamily="34" charset="0"/>
                <a:cs typeface="Arial" panose="020B0604020202020204" pitchFamily="34" charset="0"/>
              </a:rPr>
              <a:t>Pachitariu</a:t>
            </a:r>
            <a:r>
              <a:rPr lang="en-US" sz="2000" dirty="0">
                <a:latin typeface="Arial" panose="020B0604020202020204" pitchFamily="34" charset="0"/>
                <a:cs typeface="Arial" panose="020B0604020202020204" pitchFamily="34" charset="0"/>
              </a:rPr>
              <a:t>, M. Cellpose3: one-click image restoration for improved cellular segmentation. Nat Methods 22, 592–599 (2025). </a:t>
            </a:r>
            <a:r>
              <a:rPr lang="en-US" sz="2000" dirty="0">
                <a:latin typeface="Arial" panose="020B0604020202020204" pitchFamily="34" charset="0"/>
                <a:cs typeface="Arial" panose="020B0604020202020204" pitchFamily="34" charset="0"/>
                <a:hlinkClick r:id="rId5"/>
              </a:rPr>
              <a:t>https://doi.org/10.1038/s41592-025-02595-5</a:t>
            </a:r>
            <a:endParaRPr lang="en-US" sz="20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796236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12493</TotalTime>
  <Words>762</Words>
  <Application>Microsoft Macintosh PowerPoint</Application>
  <PresentationFormat>Widescreen</PresentationFormat>
  <Paragraphs>60</Paragraphs>
  <Slides>6</Slides>
  <Notes>5</Notes>
  <HiddenSlides>0</HiddenSlides>
  <MMClips>5</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 Classical and Deep Learning Approaches for Lumen Segmentation   breast histopathology images </vt:lpstr>
      <vt:lpstr>Problem &amp; Motivation</vt:lpstr>
      <vt:lpstr>Methods</vt:lpstr>
      <vt:lpstr>Evaluation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Pfister Michèle (pfistmi5)</dc:creator>
  <cp:lastModifiedBy>Pfister Michèle (pfistmi5)</cp:lastModifiedBy>
  <cp:revision>8</cp:revision>
  <dcterms:created xsi:type="dcterms:W3CDTF">2026-05-03T12:40:20Z</dcterms:created>
  <dcterms:modified xsi:type="dcterms:W3CDTF">2026-05-31T12:36:28Z</dcterms:modified>
</cp:coreProperties>
</file>